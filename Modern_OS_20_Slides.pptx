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6" r:id="rId16"/>
    <p:sldId id="277" r:id="rId17"/>
    <p:sldId id="270" r:id="rId18"/>
    <p:sldId id="271" r:id="rId19"/>
    <p:sldId id="272" r:id="rId20"/>
    <p:sldId id="273" r:id="rId21"/>
    <p:sldId id="274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64" d="100"/>
          <a:sy n="64" d="100"/>
        </p:scale>
        <p:origin x="101" y="245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800" b="1">
                <a:solidFill>
                  <a:srgbClr val="F8FAFC"/>
                </a:solidFill>
              </a:defRPr>
            </a:pPr>
            <a:r>
              <a:t>Σύγχρονα Λειτουργικά Συστήματα</a:t>
            </a:r>
          </a:p>
          <a:p>
            <a:pPr algn="ctr">
              <a:defRPr sz="2000">
                <a:solidFill>
                  <a:srgbClr val="94A3B8"/>
                </a:solidFill>
              </a:defRPr>
            </a:pPr>
            <a:r>
              <a:t>Εισαγωγικό Εγχειρίδιο 4 Ωρών: Θεωρία, Δομή, Διεργασίες, Συστήματα Αρχείων &amp; Quiz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Δομή &amp; Χρονοδιάγραμμα 4ώρου Μαθήματος</a:t>
            </a:r>
          </a:p>
          <a:p>
            <a:pPr>
              <a:defRPr sz="1100" b="1">
                <a:solidFill>
                  <a:srgbClr val="2563EB"/>
                </a:solidFill>
              </a:defRPr>
            </a:pPr>
            <a:r>
              <a:t>ΕΙΣΑΓΩΓΉ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170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0F172A"/>
                </a:solidFill>
              </a:defRPr>
            </a:pPr>
            <a:r>
              <a:rPr sz="2000" dirty="0"/>
              <a:t>• 1η </a:t>
            </a:r>
            <a:r>
              <a:rPr sz="2000" dirty="0" err="1"/>
              <a:t>Ώρ</a:t>
            </a:r>
            <a:r>
              <a:rPr sz="2000" dirty="0"/>
              <a:t>α: Έννοια Λ.Σ., Λογισμικό Συστήματος vs Εφαρμογών, Δομή &amp; Ιστορική Εξέλιξη.</a:t>
            </a:r>
          </a:p>
          <a:p>
            <a:pPr>
              <a:spcAft>
                <a:spcPts val="1000"/>
              </a:spcAft>
              <a:defRPr sz="1700">
                <a:solidFill>
                  <a:srgbClr val="0F172A"/>
                </a:solidFill>
              </a:defRPr>
            </a:pPr>
            <a:r>
              <a:rPr sz="2000" dirty="0"/>
              <a:t>• 2η </a:t>
            </a:r>
            <a:r>
              <a:rPr sz="2000" dirty="0" err="1"/>
              <a:t>Ώρ</a:t>
            </a:r>
            <a:r>
              <a:rPr sz="2000" dirty="0"/>
              <a:t>α: Αρμοδιότητες, Διαχείριση Πόρων, Κλήσεις Συστήματος (System Calls) &amp; Διακοπές.</a:t>
            </a:r>
          </a:p>
          <a:p>
            <a:pPr>
              <a:spcAft>
                <a:spcPts val="1000"/>
              </a:spcAft>
              <a:defRPr sz="1700">
                <a:solidFill>
                  <a:srgbClr val="0F172A"/>
                </a:solidFill>
              </a:defRPr>
            </a:pPr>
            <a:r>
              <a:rPr sz="2000" dirty="0"/>
              <a:t>• 3η </a:t>
            </a:r>
            <a:r>
              <a:rPr sz="2000" dirty="0" err="1"/>
              <a:t>Ώρ</a:t>
            </a:r>
            <a:r>
              <a:rPr sz="2000" dirty="0"/>
              <a:t>α: Διεργασίες, Υπηρεσίες, Παρασκήνιο/Προσκήνιο και Εποπτεία μέσω Task Manager.</a:t>
            </a:r>
          </a:p>
          <a:p>
            <a:pPr>
              <a:spcAft>
                <a:spcPts val="1000"/>
              </a:spcAft>
              <a:defRPr sz="1700">
                <a:solidFill>
                  <a:srgbClr val="0F172A"/>
                </a:solidFill>
              </a:defRPr>
            </a:pPr>
            <a:r>
              <a:rPr sz="2000" dirty="0"/>
              <a:t>• 4η </a:t>
            </a:r>
            <a:r>
              <a:rPr sz="2000" dirty="0" err="1"/>
              <a:t>Ώρ</a:t>
            </a:r>
            <a:r>
              <a:rPr sz="2000" dirty="0"/>
              <a:t>α: Συστήματα Αρχείων (FAT32 vs NTFS), Ιδιότητες, CHKDSK και Quiz Αυτοαξιολόγησης.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Τι είναι το Λειτουργικό Σύστημα (Λ.Σ.);</a:t>
            </a:r>
          </a:p>
          <a:p>
            <a:pPr>
              <a:defRPr sz="1100" b="1">
                <a:solidFill>
                  <a:srgbClr val="2563EB"/>
                </a:solidFill>
              </a:defRPr>
            </a:pPr>
            <a:r>
              <a:t>1Η ΏΡΑ: ΘΕΜΈΛΙΑ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2015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0F172A"/>
                </a:solidFill>
              </a:defRPr>
            </a:pPr>
            <a:r>
              <a:rPr sz="2000" dirty="0"/>
              <a:t>• </a:t>
            </a:r>
            <a:r>
              <a:rPr sz="2000" dirty="0" err="1"/>
              <a:t>Ορισμός</a:t>
            </a:r>
            <a:r>
              <a:rPr sz="2000" dirty="0"/>
              <a:t>: </a:t>
            </a:r>
            <a:r>
              <a:rPr sz="2000" dirty="0" err="1"/>
              <a:t>Συλλογή</a:t>
            </a:r>
            <a:r>
              <a:rPr sz="2000" dirty="0"/>
              <a:t> βα</a:t>
            </a:r>
            <a:r>
              <a:rPr sz="2000" dirty="0" err="1"/>
              <a:t>σικών</a:t>
            </a:r>
            <a:r>
              <a:rPr sz="2000" dirty="0"/>
              <a:t> π</a:t>
            </a:r>
            <a:r>
              <a:rPr sz="2000" dirty="0" err="1"/>
              <a:t>ρογρ</a:t>
            </a:r>
            <a:r>
              <a:rPr sz="2000" dirty="0"/>
              <a:t>αμμάτων που ελέγχει συνολικά τη λειτουργία του υπολογιστή.</a:t>
            </a:r>
          </a:p>
          <a:p>
            <a:pPr>
              <a:spcAft>
                <a:spcPts val="1000"/>
              </a:spcAft>
              <a:defRPr sz="1600">
                <a:solidFill>
                  <a:srgbClr val="0F172A"/>
                </a:solidFill>
              </a:defRPr>
            </a:pPr>
            <a:r>
              <a:rPr sz="2000" dirty="0"/>
              <a:t>• </a:t>
            </a:r>
            <a:r>
              <a:rPr sz="2000" dirty="0" err="1"/>
              <a:t>Συνδετικός</a:t>
            </a:r>
            <a:r>
              <a:rPr sz="2000" dirty="0"/>
              <a:t> </a:t>
            </a:r>
            <a:r>
              <a:rPr sz="2000" dirty="0" err="1"/>
              <a:t>Κρίκος</a:t>
            </a:r>
            <a:r>
              <a:rPr sz="2000" dirty="0"/>
              <a:t>: </a:t>
            </a:r>
            <a:r>
              <a:rPr sz="2000" dirty="0" err="1"/>
              <a:t>Λειτουργεί</a:t>
            </a:r>
            <a:r>
              <a:rPr sz="2000" dirty="0"/>
              <a:t> </a:t>
            </a:r>
            <a:r>
              <a:rPr sz="2000" dirty="0" err="1"/>
              <a:t>ως</a:t>
            </a:r>
            <a:r>
              <a:rPr sz="2000" dirty="0"/>
              <a:t> </a:t>
            </a:r>
            <a:r>
              <a:rPr sz="2000" dirty="0" err="1"/>
              <a:t>γέφυρ</a:t>
            </a:r>
            <a:r>
              <a:rPr sz="2000" dirty="0"/>
              <a:t>α ανάμεσα στον χρήστη, τις εφαρμογές και το υλικό.</a:t>
            </a:r>
          </a:p>
          <a:p>
            <a:pPr>
              <a:spcAft>
                <a:spcPts val="1000"/>
              </a:spcAft>
              <a:defRPr sz="1600">
                <a:solidFill>
                  <a:srgbClr val="0F172A"/>
                </a:solidFill>
              </a:defRPr>
            </a:pPr>
            <a:r>
              <a:rPr sz="2000" dirty="0"/>
              <a:t>• Υπόβα</a:t>
            </a:r>
            <a:r>
              <a:rPr sz="2000" dirty="0" err="1"/>
              <a:t>θρο</a:t>
            </a:r>
            <a:r>
              <a:rPr sz="2000" dirty="0"/>
              <a:t>: Απ</a:t>
            </a:r>
            <a:r>
              <a:rPr sz="2000" dirty="0" err="1"/>
              <a:t>οτελεί</a:t>
            </a:r>
            <a:r>
              <a:rPr sz="2000" dirty="0"/>
              <a:t> </a:t>
            </a:r>
            <a:r>
              <a:rPr sz="2000" dirty="0" err="1"/>
              <a:t>το</a:t>
            </a:r>
            <a:r>
              <a:rPr sz="2000" dirty="0"/>
              <a:t> απαρα</a:t>
            </a:r>
            <a:r>
              <a:rPr sz="2000" dirty="0" err="1"/>
              <a:t>ίτητο</a:t>
            </a:r>
            <a:r>
              <a:rPr sz="2000" dirty="0"/>
              <a:t> υπόβα</a:t>
            </a:r>
            <a:r>
              <a:rPr sz="2000" dirty="0" err="1"/>
              <a:t>θρο</a:t>
            </a:r>
            <a:r>
              <a:rPr sz="2000" dirty="0"/>
              <a:t> π</a:t>
            </a:r>
            <a:r>
              <a:rPr sz="2000" dirty="0" err="1"/>
              <a:t>άνω</a:t>
            </a:r>
            <a:r>
              <a:rPr sz="2000" dirty="0"/>
              <a:t> </a:t>
            </a:r>
            <a:r>
              <a:rPr sz="2000" dirty="0" err="1"/>
              <a:t>στο</a:t>
            </a:r>
            <a:r>
              <a:rPr sz="2000" dirty="0"/>
              <a:t> οπ</a:t>
            </a:r>
            <a:r>
              <a:rPr sz="2000" dirty="0" err="1"/>
              <a:t>οίο</a:t>
            </a:r>
            <a:r>
              <a:rPr sz="2000" dirty="0"/>
              <a:t> </a:t>
            </a:r>
            <a:r>
              <a:rPr sz="2000" dirty="0" err="1"/>
              <a:t>εκτελούντ</a:t>
            </a:r>
            <a:r>
              <a:rPr sz="2000" dirty="0"/>
              <a:t>αι όλες οι εφαρμογές.</a:t>
            </a:r>
          </a:p>
          <a:p>
            <a:pPr>
              <a:spcAft>
                <a:spcPts val="1000"/>
              </a:spcAft>
              <a:defRPr sz="1600">
                <a:solidFill>
                  <a:srgbClr val="0F172A"/>
                </a:solidFill>
              </a:defRPr>
            </a:pPr>
            <a:r>
              <a:rPr sz="2000" dirty="0"/>
              <a:t>• Χα</a:t>
            </a:r>
            <a:r>
              <a:rPr sz="2000" dirty="0" err="1"/>
              <a:t>μηλού</a:t>
            </a:r>
            <a:r>
              <a:rPr sz="2000" dirty="0"/>
              <a:t> Επιπ</a:t>
            </a:r>
            <a:r>
              <a:rPr sz="2000" dirty="0" err="1"/>
              <a:t>έδου</a:t>
            </a:r>
            <a:r>
              <a:rPr sz="2000" dirty="0"/>
              <a:t>: </a:t>
            </a:r>
            <a:r>
              <a:rPr sz="2000" dirty="0" err="1"/>
              <a:t>Περιέχει</a:t>
            </a:r>
            <a:r>
              <a:rPr sz="2000" dirty="0"/>
              <a:t> </a:t>
            </a:r>
            <a:r>
              <a:rPr sz="2000" dirty="0" err="1"/>
              <a:t>κώδικ</a:t>
            </a:r>
            <a:r>
              <a:rPr sz="2000" dirty="0"/>
              <a:t>α προσαρμοσμένο στην αρχιτεκτονική της CPU.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Η Θέση του Λ.Σ. στο Υπολογιστικό Σύστημα</a:t>
            </a:r>
          </a:p>
          <a:p>
            <a:pPr>
              <a:defRPr sz="1100" b="1">
                <a:solidFill>
                  <a:srgbClr val="2563EB"/>
                </a:solidFill>
              </a:defRPr>
            </a:pPr>
            <a:r>
              <a:t>1Η ΏΡΑ: ΑΡΧΙΤΕΚΤΟΝΙΚΉ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0" y="1463040"/>
            <a:ext cx="5760720" cy="3683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0F172A"/>
                </a:solidFill>
              </a:defRPr>
            </a:pPr>
            <a:r>
              <a:rPr sz="2000" dirty="0"/>
              <a:t>• Επίπ</a:t>
            </a:r>
            <a:r>
              <a:rPr sz="2000" dirty="0" err="1"/>
              <a:t>εδο</a:t>
            </a:r>
            <a:r>
              <a:rPr sz="2000" dirty="0"/>
              <a:t> 1 - </a:t>
            </a:r>
            <a:r>
              <a:rPr sz="2000" dirty="0" err="1"/>
              <a:t>Χρήστης</a:t>
            </a:r>
            <a:r>
              <a:rPr sz="2000" dirty="0"/>
              <a:t>: </a:t>
            </a:r>
            <a:r>
              <a:rPr sz="2000" dirty="0" err="1"/>
              <a:t>Αλληλε</a:t>
            </a:r>
            <a:r>
              <a:rPr sz="2000" dirty="0"/>
              <a:t>πιδρά με το σύστημα μέσω περιβάλλοντος εργασίας.</a:t>
            </a:r>
          </a:p>
          <a:p>
            <a:pPr>
              <a:spcAft>
                <a:spcPts val="1000"/>
              </a:spcAft>
              <a:defRPr sz="1500">
                <a:solidFill>
                  <a:srgbClr val="0F172A"/>
                </a:solidFill>
              </a:defRPr>
            </a:pPr>
            <a:r>
              <a:rPr sz="2000" dirty="0"/>
              <a:t>• Επίπ</a:t>
            </a:r>
            <a:r>
              <a:rPr sz="2000" dirty="0" err="1"/>
              <a:t>εδο</a:t>
            </a:r>
            <a:r>
              <a:rPr sz="2000" dirty="0"/>
              <a:t> 2 - </a:t>
            </a:r>
            <a:r>
              <a:rPr sz="2000" dirty="0" err="1"/>
              <a:t>Εφ</a:t>
            </a:r>
            <a:r>
              <a:rPr sz="2000" dirty="0"/>
              <a:t>αρμογές: Προγράμματα που εξυπηρετούν ανάγκες (Word, Chrome κτλ.).</a:t>
            </a:r>
          </a:p>
          <a:p>
            <a:pPr>
              <a:spcAft>
                <a:spcPts val="1000"/>
              </a:spcAft>
              <a:defRPr sz="1500">
                <a:solidFill>
                  <a:srgbClr val="0F172A"/>
                </a:solidFill>
              </a:defRPr>
            </a:pPr>
            <a:r>
              <a:rPr sz="2000" dirty="0"/>
              <a:t>• Επίπ</a:t>
            </a:r>
            <a:r>
              <a:rPr sz="2000" dirty="0" err="1"/>
              <a:t>εδο</a:t>
            </a:r>
            <a:r>
              <a:rPr sz="2000" dirty="0"/>
              <a:t> 3 - </a:t>
            </a:r>
            <a:r>
              <a:rPr sz="2000" dirty="0" err="1"/>
              <a:t>Λειτουργικό</a:t>
            </a:r>
            <a:r>
              <a:rPr sz="2000" dirty="0"/>
              <a:t> </a:t>
            </a:r>
            <a:r>
              <a:rPr sz="2000" dirty="0" err="1"/>
              <a:t>Σύστημ</a:t>
            </a:r>
            <a:r>
              <a:rPr sz="2000" dirty="0"/>
              <a:t>α: Ελέγχει και διαμοιράζει τους πόρους.</a:t>
            </a:r>
          </a:p>
          <a:p>
            <a:pPr>
              <a:spcAft>
                <a:spcPts val="1000"/>
              </a:spcAft>
              <a:defRPr sz="1500">
                <a:solidFill>
                  <a:srgbClr val="0F172A"/>
                </a:solidFill>
              </a:defRPr>
            </a:pPr>
            <a:r>
              <a:rPr sz="2000" dirty="0"/>
              <a:t>• Επίπ</a:t>
            </a:r>
            <a:r>
              <a:rPr sz="2000" dirty="0" err="1"/>
              <a:t>εδο</a:t>
            </a:r>
            <a:r>
              <a:rPr sz="2000" dirty="0"/>
              <a:t> 4 - </a:t>
            </a:r>
            <a:r>
              <a:rPr sz="2000" dirty="0" err="1"/>
              <a:t>Υλικό</a:t>
            </a:r>
            <a:r>
              <a:rPr sz="2000" dirty="0"/>
              <a:t>: CPU, </a:t>
            </a:r>
            <a:r>
              <a:rPr sz="2000" dirty="0" err="1"/>
              <a:t>μνήμη</a:t>
            </a:r>
            <a:r>
              <a:rPr sz="2000" dirty="0"/>
              <a:t>, </a:t>
            </a:r>
            <a:r>
              <a:rPr sz="2000" dirty="0" err="1"/>
              <a:t>σκληροί</a:t>
            </a:r>
            <a:r>
              <a:rPr sz="2000" dirty="0"/>
              <a:t> </a:t>
            </a:r>
            <a:r>
              <a:rPr sz="2000" dirty="0" err="1"/>
              <a:t>δίσκοι</a:t>
            </a:r>
            <a:r>
              <a:rPr sz="2000" dirty="0"/>
              <a:t>, </a:t>
            </a:r>
            <a:r>
              <a:rPr sz="2000" dirty="0" err="1"/>
              <a:t>κάρτες</a:t>
            </a:r>
            <a:r>
              <a:rPr sz="2000" dirty="0"/>
              <a:t> </a:t>
            </a:r>
            <a:r>
              <a:rPr sz="2000" dirty="0" err="1"/>
              <a:t>δικτύου</a:t>
            </a:r>
            <a:r>
              <a:rPr sz="2000" dirty="0"/>
              <a:t>.</a:t>
            </a:r>
          </a:p>
          <a:p>
            <a:pPr>
              <a:spcAft>
                <a:spcPts val="1000"/>
              </a:spcAft>
              <a:defRPr sz="1500">
                <a:solidFill>
                  <a:srgbClr val="0F172A"/>
                </a:solidFill>
              </a:defRPr>
            </a:pPr>
            <a:r>
              <a:rPr sz="2000" dirty="0"/>
              <a:t>• </a:t>
            </a:r>
            <a:r>
              <a:rPr sz="2000" dirty="0" err="1"/>
              <a:t>Σημείωση</a:t>
            </a:r>
            <a:r>
              <a:rPr sz="2000" dirty="0"/>
              <a:t>: </a:t>
            </a:r>
            <a:r>
              <a:rPr sz="2000" dirty="0" err="1"/>
              <a:t>Οι</a:t>
            </a:r>
            <a:r>
              <a:rPr sz="2000" dirty="0"/>
              <a:t> </a:t>
            </a:r>
            <a:r>
              <a:rPr sz="2000" dirty="0" err="1"/>
              <a:t>εφ</a:t>
            </a:r>
            <a:r>
              <a:rPr sz="2000" dirty="0"/>
              <a:t>αρμογές δεν μπορούν να προσπελάσουν το υλικό αυτόνομα.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4CC0B32-1DEA-8702-684D-919DF77115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1885" y="1463040"/>
            <a:ext cx="2381250" cy="35242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Δομή &amp; Βασικά Υποσυστήματα του Λ.Σ.</a:t>
            </a:r>
          </a:p>
          <a:p>
            <a:pPr>
              <a:defRPr sz="1100" b="1">
                <a:solidFill>
                  <a:srgbClr val="2563EB"/>
                </a:solidFill>
              </a:defRPr>
            </a:pPr>
            <a:r>
              <a:t>1Η ΏΡΑ: ΥΠΟΣΥΣΤΉΜΑΤΑ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0" y="1463040"/>
            <a:ext cx="5760720" cy="29392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0F172A"/>
                </a:solidFill>
              </a:defRPr>
            </a:pPr>
            <a:r>
              <a:rPr sz="2000" dirty="0"/>
              <a:t>• </a:t>
            </a:r>
            <a:r>
              <a:rPr sz="2000" dirty="0" err="1"/>
              <a:t>Πυρήν</a:t>
            </a:r>
            <a:r>
              <a:rPr sz="2000" dirty="0"/>
              <a:t>ας (Kernel): Φορτώνεται πρώτος στη RAM και εκτελείται συνεχώς.</a:t>
            </a:r>
          </a:p>
          <a:p>
            <a:pPr>
              <a:spcAft>
                <a:spcPts val="1000"/>
              </a:spcAft>
              <a:defRPr sz="1500">
                <a:solidFill>
                  <a:srgbClr val="0F172A"/>
                </a:solidFill>
              </a:defRPr>
            </a:pPr>
            <a:r>
              <a:rPr sz="2000" dirty="0"/>
              <a:t>• </a:t>
            </a:r>
            <a:r>
              <a:rPr sz="2000" dirty="0" err="1"/>
              <a:t>Σύστημ</a:t>
            </a:r>
            <a:r>
              <a:rPr sz="2000" dirty="0"/>
              <a:t>α Αρχείων: Οργανώνει, ονοματοδοτεί και αποθηκεύει τα δεδομένα.</a:t>
            </a:r>
          </a:p>
          <a:p>
            <a:pPr>
              <a:spcAft>
                <a:spcPts val="1000"/>
              </a:spcAft>
              <a:defRPr sz="1500">
                <a:solidFill>
                  <a:srgbClr val="0F172A"/>
                </a:solidFill>
              </a:defRPr>
            </a:pPr>
            <a:r>
              <a:rPr sz="2000" dirty="0"/>
              <a:t>• </a:t>
            </a:r>
            <a:r>
              <a:rPr sz="2000" dirty="0" err="1"/>
              <a:t>Διε</a:t>
            </a:r>
            <a:r>
              <a:rPr sz="2000" dirty="0"/>
              <a:t>παφή Χρήστη (Φλοιός / Shell): Δέχεται εντολές μέσω GUI ή γραμμής εντολών (CLI).</a:t>
            </a:r>
          </a:p>
          <a:p>
            <a:pPr>
              <a:spcAft>
                <a:spcPts val="1000"/>
              </a:spcAft>
              <a:defRPr sz="1500">
                <a:solidFill>
                  <a:srgbClr val="0F172A"/>
                </a:solidFill>
              </a:defRPr>
            </a:pPr>
            <a:r>
              <a:rPr sz="2000" dirty="0"/>
              <a:t>• </a:t>
            </a:r>
            <a:r>
              <a:rPr sz="2000" dirty="0" err="1"/>
              <a:t>Βοηθητικά</a:t>
            </a:r>
            <a:r>
              <a:rPr sz="2000" dirty="0"/>
              <a:t> </a:t>
            </a:r>
            <a:r>
              <a:rPr sz="2000" dirty="0" err="1"/>
              <a:t>Προγράμμ</a:t>
            </a:r>
            <a:r>
              <a:rPr sz="2000" dirty="0"/>
              <a:t>ατα (Utilities): Εργαλεία ελέγχου, συντήρησης και παραμετροποίησης.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77D33F1-86F7-4547-EB68-B28A9B5FA8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618" y="1448123"/>
            <a:ext cx="5306149" cy="504411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Ιστορική Εξέλιξη των Λειτουργικών Συστημάτων</a:t>
            </a:r>
          </a:p>
          <a:p>
            <a:pPr>
              <a:defRPr sz="1100" b="1">
                <a:solidFill>
                  <a:srgbClr val="2563EB"/>
                </a:solidFill>
              </a:defRPr>
            </a:pPr>
            <a:r>
              <a:t>1Η ΏΡΑ: ΙΣΤΟΡΊΑ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332720" cy="2887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0F172A"/>
                </a:solidFill>
              </a:defRPr>
            </a:pPr>
            <a:r>
              <a:rPr sz="2000" dirty="0"/>
              <a:t>• </a:t>
            </a:r>
            <a:r>
              <a:rPr sz="2000" dirty="0" err="1"/>
              <a:t>Πριν</a:t>
            </a:r>
            <a:r>
              <a:rPr sz="2000" dirty="0"/>
              <a:t> </a:t>
            </a:r>
            <a:r>
              <a:rPr sz="2000" dirty="0" err="1"/>
              <a:t>το</a:t>
            </a:r>
            <a:r>
              <a:rPr sz="2000" dirty="0"/>
              <a:t> 1970: </a:t>
            </a:r>
            <a:r>
              <a:rPr sz="2000" dirty="0" err="1"/>
              <a:t>Πρωτόγον</a:t>
            </a:r>
            <a:r>
              <a:rPr sz="2000" dirty="0"/>
              <a:t>α συστήματα, φτιαγμένα για έναν συγκεκριμένο υπολογιστή.</a:t>
            </a:r>
          </a:p>
          <a:p>
            <a:pPr>
              <a:spcAft>
                <a:spcPts val="1000"/>
              </a:spcAft>
              <a:defRPr sz="1500">
                <a:solidFill>
                  <a:srgbClr val="0F172A"/>
                </a:solidFill>
              </a:defRPr>
            </a:pPr>
            <a:r>
              <a:rPr sz="2000" dirty="0"/>
              <a:t>• 1969 - Unix (Bell Labs): Επα</a:t>
            </a:r>
            <a:r>
              <a:rPr sz="2000" dirty="0" err="1"/>
              <a:t>νάστ</a:t>
            </a:r>
            <a:r>
              <a:rPr sz="2000" dirty="0"/>
              <a:t>αση στον πολυπρογραμματισμό και τα ιεραρχικά αρχεία.</a:t>
            </a:r>
          </a:p>
          <a:p>
            <a:pPr>
              <a:spcAft>
                <a:spcPts val="1000"/>
              </a:spcAft>
              <a:defRPr sz="1500">
                <a:solidFill>
                  <a:srgbClr val="0F172A"/>
                </a:solidFill>
              </a:defRPr>
            </a:pPr>
            <a:r>
              <a:rPr sz="2000" dirty="0"/>
              <a:t>• 1981 - MS-DOS: </a:t>
            </a:r>
            <a:r>
              <a:rPr sz="2000" dirty="0" err="1"/>
              <a:t>Αν</a:t>
            </a:r>
            <a:r>
              <a:rPr sz="2000" dirty="0"/>
              <a:t>απτύχθηκε από τη Microsoft για τους πρώτους προσωπικούς υπολογιστές IBM.</a:t>
            </a:r>
          </a:p>
          <a:p>
            <a:pPr>
              <a:spcAft>
                <a:spcPts val="1000"/>
              </a:spcAft>
              <a:defRPr sz="1500">
                <a:solidFill>
                  <a:srgbClr val="0F172A"/>
                </a:solidFill>
              </a:defRPr>
            </a:pPr>
            <a:r>
              <a:rPr sz="2000" dirty="0"/>
              <a:t>• 1985 - Windows: </a:t>
            </a:r>
            <a:r>
              <a:rPr sz="2000" dirty="0" err="1"/>
              <a:t>Εισ</a:t>
            </a:r>
            <a:r>
              <a:rPr sz="2000" dirty="0"/>
              <a:t>αγωγή του γραφικού περιβάλλοντος (GUI) πάνω από το DOS.</a:t>
            </a:r>
          </a:p>
          <a:p>
            <a:pPr>
              <a:spcAft>
                <a:spcPts val="1000"/>
              </a:spcAft>
              <a:defRPr sz="1500">
                <a:solidFill>
                  <a:srgbClr val="0F172A"/>
                </a:solidFill>
              </a:defRPr>
            </a:pPr>
            <a:r>
              <a:rPr sz="2000" dirty="0"/>
              <a:t>• 1991 - Linux: </a:t>
            </a:r>
            <a:r>
              <a:rPr sz="2000" dirty="0" err="1"/>
              <a:t>Δημιουργήθηκε</a:t>
            </a:r>
            <a:r>
              <a:rPr sz="2000" dirty="0"/>
              <a:t> από </a:t>
            </a:r>
            <a:r>
              <a:rPr sz="2000" dirty="0" err="1"/>
              <a:t>τον</a:t>
            </a:r>
            <a:r>
              <a:rPr sz="2000" dirty="0"/>
              <a:t> Linus Torvalds </a:t>
            </a:r>
            <a:r>
              <a:rPr sz="2000" dirty="0" err="1"/>
              <a:t>ως</a:t>
            </a:r>
            <a:r>
              <a:rPr sz="2000" dirty="0"/>
              <a:t> α</a:t>
            </a:r>
            <a:r>
              <a:rPr sz="2000" dirty="0" err="1"/>
              <a:t>νοικτός</a:t>
            </a:r>
            <a:r>
              <a:rPr sz="2000" dirty="0"/>
              <a:t> </a:t>
            </a:r>
            <a:r>
              <a:rPr sz="2000" dirty="0" err="1"/>
              <a:t>κώδικ</a:t>
            </a:r>
            <a:r>
              <a:rPr sz="2000" dirty="0"/>
              <a:t>ας (Open Source).</a:t>
            </a:r>
          </a:p>
          <a:p>
            <a:pPr>
              <a:spcAft>
                <a:spcPts val="1000"/>
              </a:spcAft>
              <a:defRPr sz="1500">
                <a:solidFill>
                  <a:srgbClr val="0F172A"/>
                </a:solidFill>
              </a:defRPr>
            </a:pPr>
            <a:r>
              <a:rPr sz="2000" dirty="0"/>
              <a:t>• </a:t>
            </a:r>
            <a:r>
              <a:rPr sz="2000" dirty="0" err="1"/>
              <a:t>Κινητά</a:t>
            </a:r>
            <a:r>
              <a:rPr sz="2000" dirty="0"/>
              <a:t> &amp; Cloud: Android (Google/Linux), iOS (Apple), Cloud computing.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Οι Κύριες Αρμοδιότητες ενός Λ.Σ.</a:t>
            </a:r>
          </a:p>
          <a:p>
            <a:pPr>
              <a:defRPr sz="1100" b="1">
                <a:solidFill>
                  <a:srgbClr val="2563EB"/>
                </a:solidFill>
              </a:defRPr>
            </a:pPr>
            <a:r>
              <a:t>2Η ΏΡΑ: ΑΡΜΟΔΙΌΤΗΤΕΣ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332720" cy="30162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0F172A"/>
                </a:solidFill>
              </a:defRPr>
            </a:pPr>
            <a:r>
              <a:rPr sz="2000" dirty="0"/>
              <a:t>1. </a:t>
            </a:r>
            <a:r>
              <a:rPr sz="2000" dirty="0" err="1"/>
              <a:t>Διε</a:t>
            </a:r>
            <a:r>
              <a:rPr sz="2000" dirty="0"/>
              <a:t>παφή Μηχανής: Ενδιάμεσος επικοινωνίας ανθρώπου-υπολογιστή.</a:t>
            </a:r>
          </a:p>
          <a:p>
            <a:pPr>
              <a:spcAft>
                <a:spcPts val="1000"/>
              </a:spcAft>
              <a:defRPr sz="1400">
                <a:solidFill>
                  <a:srgbClr val="0F172A"/>
                </a:solidFill>
              </a:defRPr>
            </a:pPr>
            <a:r>
              <a:rPr sz="2000" dirty="0"/>
              <a:t>2. </a:t>
            </a:r>
            <a:r>
              <a:rPr sz="2000" dirty="0" err="1"/>
              <a:t>Δι</a:t>
            </a:r>
            <a:r>
              <a:rPr sz="2000" dirty="0"/>
              <a:t>αχείριση Κύριας Μνήμης (RAM): Κατανομή χώρου και μεταφορά προγραμμάτων.</a:t>
            </a:r>
          </a:p>
          <a:p>
            <a:pPr>
              <a:spcAft>
                <a:spcPts val="1000"/>
              </a:spcAft>
              <a:defRPr sz="1400">
                <a:solidFill>
                  <a:srgbClr val="0F172A"/>
                </a:solidFill>
              </a:defRPr>
            </a:pPr>
            <a:r>
              <a:rPr sz="2000" dirty="0"/>
              <a:t>3. </a:t>
            </a:r>
            <a:r>
              <a:rPr sz="2000" dirty="0" err="1"/>
              <a:t>Δι</a:t>
            </a:r>
            <a:r>
              <a:rPr sz="2000" dirty="0"/>
              <a:t>αχείριση ΚΜΕ (CPU): Προτεραιότητα και χρόνος εκτέλεσης διεργασιών.</a:t>
            </a:r>
          </a:p>
          <a:p>
            <a:pPr>
              <a:spcAft>
                <a:spcPts val="1000"/>
              </a:spcAft>
              <a:defRPr sz="1400">
                <a:solidFill>
                  <a:srgbClr val="0F172A"/>
                </a:solidFill>
              </a:defRPr>
            </a:pPr>
            <a:r>
              <a:rPr sz="2000" dirty="0"/>
              <a:t>4. </a:t>
            </a:r>
            <a:r>
              <a:rPr sz="2000" dirty="0" err="1"/>
              <a:t>Δι</a:t>
            </a:r>
            <a:r>
              <a:rPr sz="2000" dirty="0"/>
              <a:t>αχείριση Αρχείων: Δημιουργία, διαγραφή και οργάνωση σε σκληρούς δίσκους.</a:t>
            </a:r>
          </a:p>
          <a:p>
            <a:pPr>
              <a:spcAft>
                <a:spcPts val="1000"/>
              </a:spcAft>
              <a:defRPr sz="1400">
                <a:solidFill>
                  <a:srgbClr val="0F172A"/>
                </a:solidFill>
              </a:defRPr>
            </a:pPr>
            <a:r>
              <a:rPr sz="2000" dirty="0"/>
              <a:t>5. </a:t>
            </a:r>
            <a:r>
              <a:rPr sz="2000" dirty="0" err="1"/>
              <a:t>Δι</a:t>
            </a:r>
            <a:r>
              <a:rPr sz="2000" dirty="0"/>
              <a:t>αχείριση Συσκευών Εισόδου/Εξόδου: Έλεγχος πληκτρολογίου, οθόνης, εκτυπωτών.</a:t>
            </a:r>
          </a:p>
          <a:p>
            <a:pPr>
              <a:spcAft>
                <a:spcPts val="1000"/>
              </a:spcAft>
              <a:defRPr sz="1400">
                <a:solidFill>
                  <a:srgbClr val="0F172A"/>
                </a:solidFill>
              </a:defRPr>
            </a:pPr>
            <a:r>
              <a:rPr sz="2000" dirty="0"/>
              <a:t>6. </a:t>
            </a:r>
            <a:r>
              <a:rPr sz="2000" dirty="0" err="1"/>
              <a:t>Δι</a:t>
            </a:r>
            <a:r>
              <a:rPr sz="2000" dirty="0"/>
              <a:t>αχείριση Δικτύου: Σύνδεση με άλλους υπολογιστές και το Διαδίκτυο.</a:t>
            </a:r>
          </a:p>
          <a:p>
            <a:pPr>
              <a:spcAft>
                <a:spcPts val="1000"/>
              </a:spcAft>
              <a:defRPr sz="1400">
                <a:solidFill>
                  <a:srgbClr val="0F172A"/>
                </a:solidFill>
              </a:defRPr>
            </a:pPr>
            <a:r>
              <a:rPr sz="2000" dirty="0"/>
              <a:t>7. </a:t>
            </a:r>
            <a:r>
              <a:rPr sz="2000" dirty="0" err="1"/>
              <a:t>Δι</a:t>
            </a:r>
            <a:r>
              <a:rPr sz="2000" dirty="0"/>
              <a:t>αχείριση Ασφάλειας: Αυθεντικοποίηση χρηστών και δικαιώματα πρόσβασης.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Πόροι του Υπολογιστικού Συστήματος</a:t>
            </a:r>
          </a:p>
          <a:p>
            <a:pPr>
              <a:defRPr sz="1100" b="1">
                <a:solidFill>
                  <a:srgbClr val="2563EB"/>
                </a:solidFill>
              </a:defRPr>
            </a:pPr>
            <a:r>
              <a:t>2Η ΏΡΑ: ΔΙΑΧΕΊΡΙΣΗ ΠΌΡΩΝ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332720" cy="25801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0F172A"/>
                </a:solidFill>
              </a:defRPr>
            </a:pPr>
            <a:r>
              <a:rPr sz="2000" dirty="0"/>
              <a:t>• </a:t>
            </a:r>
            <a:r>
              <a:rPr sz="2000" dirty="0" err="1"/>
              <a:t>Ορισμός</a:t>
            </a:r>
            <a:r>
              <a:rPr sz="2000" dirty="0"/>
              <a:t> </a:t>
            </a:r>
            <a:r>
              <a:rPr sz="2000" dirty="0" err="1"/>
              <a:t>Πόρου</a:t>
            </a:r>
            <a:r>
              <a:rPr sz="2000" dirty="0"/>
              <a:t>: </a:t>
            </a:r>
            <a:r>
              <a:rPr sz="2000" dirty="0" err="1"/>
              <a:t>Οτιδή</a:t>
            </a:r>
            <a:r>
              <a:rPr sz="2000" dirty="0"/>
              <a:t>ποτε διαθέτει ο υπολογιστής για την εκτέλεση εργασιών.</a:t>
            </a:r>
          </a:p>
          <a:p>
            <a:pPr>
              <a:spcAft>
                <a:spcPts val="1000"/>
              </a:spcAft>
              <a:defRPr sz="1500">
                <a:solidFill>
                  <a:srgbClr val="0F172A"/>
                </a:solidFill>
              </a:defRPr>
            </a:pPr>
            <a:r>
              <a:rPr sz="2000" dirty="0"/>
              <a:t>• </a:t>
            </a:r>
            <a:r>
              <a:rPr sz="2000" dirty="0" err="1"/>
              <a:t>Κεντρική</a:t>
            </a:r>
            <a:r>
              <a:rPr sz="2000" dirty="0"/>
              <a:t> </a:t>
            </a:r>
            <a:r>
              <a:rPr sz="2000" dirty="0" err="1"/>
              <a:t>Μονάδ</a:t>
            </a:r>
            <a:r>
              <a:rPr sz="2000" dirty="0"/>
              <a:t>α Επεξεργασίας (CPU): Ο βασικός επεξεργαστικός χρόνος.</a:t>
            </a:r>
          </a:p>
          <a:p>
            <a:pPr>
              <a:spcAft>
                <a:spcPts val="1000"/>
              </a:spcAft>
              <a:defRPr sz="1500">
                <a:solidFill>
                  <a:srgbClr val="0F172A"/>
                </a:solidFill>
              </a:defRPr>
            </a:pPr>
            <a:r>
              <a:rPr sz="2000" dirty="0"/>
              <a:t>• </a:t>
            </a:r>
            <a:r>
              <a:rPr sz="2000" dirty="0" err="1"/>
              <a:t>Κύρι</a:t>
            </a:r>
            <a:r>
              <a:rPr sz="2000" dirty="0"/>
              <a:t>α Μνήμη (RAM): Περιορισμένη και ταχεία, φιλοξενεί τα ενεργά προγράμματα.</a:t>
            </a:r>
          </a:p>
          <a:p>
            <a:pPr>
              <a:spcAft>
                <a:spcPts val="1000"/>
              </a:spcAft>
              <a:defRPr sz="1500">
                <a:solidFill>
                  <a:srgbClr val="0F172A"/>
                </a:solidFill>
              </a:defRPr>
            </a:pPr>
            <a:r>
              <a:rPr sz="2000" dirty="0"/>
              <a:t>• </a:t>
            </a:r>
            <a:r>
              <a:rPr sz="2000" dirty="0" err="1"/>
              <a:t>Δευτερεύουσ</a:t>
            </a:r>
            <a:r>
              <a:rPr sz="2000" dirty="0"/>
              <a:t>α Μνήμη (HDD/SSD): Μόνιμη αποθήκευση αρχείων και συστήματος.</a:t>
            </a:r>
          </a:p>
          <a:p>
            <a:pPr>
              <a:spcAft>
                <a:spcPts val="1000"/>
              </a:spcAft>
              <a:defRPr sz="1500">
                <a:solidFill>
                  <a:srgbClr val="0F172A"/>
                </a:solidFill>
              </a:defRPr>
            </a:pPr>
            <a:r>
              <a:rPr sz="2000" dirty="0"/>
              <a:t>• </a:t>
            </a:r>
            <a:r>
              <a:rPr sz="2000" dirty="0" err="1"/>
              <a:t>Περιφερει</a:t>
            </a:r>
            <a:r>
              <a:rPr sz="2000" dirty="0"/>
              <a:t>ακά &amp; Δίκτυο: Συσκευές εισόδου/εξόδου, κάρτες και εύρος ζώνης δικτύου.</a:t>
            </a:r>
          </a:p>
          <a:p>
            <a:pPr>
              <a:spcAft>
                <a:spcPts val="1000"/>
              </a:spcAft>
              <a:defRPr sz="1500">
                <a:solidFill>
                  <a:srgbClr val="0F172A"/>
                </a:solidFill>
              </a:defRPr>
            </a:pPr>
            <a:r>
              <a:rPr sz="2000" dirty="0"/>
              <a:t>• </a:t>
            </a:r>
            <a:r>
              <a:rPr sz="2000" dirty="0" err="1"/>
              <a:t>Συντονισμός</a:t>
            </a:r>
            <a:r>
              <a:rPr sz="2000" dirty="0"/>
              <a:t>: </a:t>
            </a:r>
            <a:r>
              <a:rPr sz="2000" dirty="0" err="1"/>
              <a:t>Το</a:t>
            </a:r>
            <a:r>
              <a:rPr sz="2000" dirty="0"/>
              <a:t> Λ.Σ. επ</a:t>
            </a:r>
            <a:r>
              <a:rPr sz="2000" dirty="0" err="1"/>
              <a:t>ιλύει</a:t>
            </a:r>
            <a:r>
              <a:rPr sz="2000" dirty="0"/>
              <a:t> </a:t>
            </a:r>
            <a:r>
              <a:rPr sz="2000" dirty="0" err="1"/>
              <a:t>διενέξεις</a:t>
            </a:r>
            <a:r>
              <a:rPr sz="2000" dirty="0"/>
              <a:t> </a:t>
            </a:r>
            <a:r>
              <a:rPr sz="2000" dirty="0" err="1"/>
              <a:t>ότ</a:t>
            </a:r>
            <a:r>
              <a:rPr sz="2000" dirty="0"/>
              <a:t>αν πολλαπλές εφαρμογές ζητούν τον ίδιο πόρο.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rPr lang="el-GR"/>
              <a:t>Επικοινωνία με το Υλικό: System Calls &amp; Interrupts</a:t>
            </a:r>
          </a:p>
          <a:p>
            <a:pPr>
              <a:defRPr sz="1100" b="1">
                <a:solidFill>
                  <a:srgbClr val="2563EB"/>
                </a:solidFill>
              </a:defRPr>
            </a:pPr>
            <a:r>
              <a:rPr lang="el-GR"/>
              <a:t>2Η ΏΡΑ: ΜΗΧΑΝΙΣΜΟΊ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16778" y="1463040"/>
            <a:ext cx="3513221" cy="40421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0F172A"/>
                </a:solidFill>
              </a:defRPr>
            </a:pPr>
            <a:r>
              <a:rPr lang="el-GR" sz="2000" dirty="0"/>
              <a:t>• Κλήσεις Συστήματος (</a:t>
            </a:r>
            <a:r>
              <a:rPr lang="el-GR" sz="2000" dirty="0" err="1"/>
              <a:t>System</a:t>
            </a:r>
            <a:r>
              <a:rPr lang="el-GR" sz="2000" dirty="0"/>
              <a:t> </a:t>
            </a:r>
            <a:r>
              <a:rPr lang="el-GR" sz="2000" dirty="0" err="1"/>
              <a:t>Calls</a:t>
            </a:r>
            <a:r>
              <a:rPr lang="el-GR" sz="2000" dirty="0"/>
              <a:t>): Ο τρόπος με τον οποίο οι εφαρμογές ζητούν υπηρεσίες από τον πυρήνα.</a:t>
            </a:r>
          </a:p>
          <a:p>
            <a:pPr>
              <a:spcAft>
                <a:spcPts val="1000"/>
              </a:spcAft>
              <a:defRPr sz="1500">
                <a:solidFill>
                  <a:srgbClr val="0F172A"/>
                </a:solidFill>
              </a:defRPr>
            </a:pPr>
            <a:r>
              <a:rPr lang="el-GR" sz="2000" dirty="0"/>
              <a:t>• Προστασία: Αποτρέπει τις εφαρμογές από το να αγγίζουν ανεξέλεγκτα το υλικό.</a:t>
            </a:r>
          </a:p>
          <a:p>
            <a:pPr>
              <a:spcAft>
                <a:spcPts val="1000"/>
              </a:spcAft>
              <a:defRPr sz="1500">
                <a:solidFill>
                  <a:srgbClr val="0F172A"/>
                </a:solidFill>
              </a:defRPr>
            </a:pPr>
            <a:r>
              <a:rPr lang="el-GR" sz="2000" dirty="0"/>
              <a:t>• Διακοπές (</a:t>
            </a:r>
            <a:r>
              <a:rPr lang="el-GR" sz="2000" dirty="0" err="1"/>
              <a:t>Interrupts</a:t>
            </a:r>
            <a:r>
              <a:rPr lang="el-GR" sz="2000" dirty="0"/>
              <a:t>): Σήματα υλικού/λογισμικού που διακόπτουν προσωρινά την CPU για άμεση εξυπηρέτηση συμβάντων.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50F3042-6815-2BDF-D11F-994E2F3C5E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232" y="956798"/>
            <a:ext cx="7291136" cy="533571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Εφαρμογές, Διεργασίες και Υπηρεσίες</a:t>
            </a:r>
          </a:p>
          <a:p>
            <a:pPr>
              <a:defRPr sz="1100" b="1">
                <a:solidFill>
                  <a:srgbClr val="2563EB"/>
                </a:solidFill>
              </a:defRPr>
            </a:pPr>
            <a:r>
              <a:t>3Η ΏΡΑ: ΔΙΕΡΓΑΣΊΕΣ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332720" cy="24519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0F172A"/>
                </a:solidFill>
              </a:defRPr>
            </a:pPr>
            <a:r>
              <a:rPr sz="2000" dirty="0"/>
              <a:t>• </a:t>
            </a:r>
            <a:r>
              <a:rPr sz="2000" dirty="0" err="1"/>
              <a:t>Εφ</a:t>
            </a:r>
            <a:r>
              <a:rPr sz="2000" dirty="0"/>
              <a:t>αρμογή: Το πρόγραμμα αποθηκευμένο στο δίσκο με το οποίο αλληλεπιδρούμε.</a:t>
            </a:r>
          </a:p>
          <a:p>
            <a:pPr>
              <a:spcAft>
                <a:spcPts val="1000"/>
              </a:spcAft>
              <a:defRPr sz="1500">
                <a:solidFill>
                  <a:srgbClr val="0F172A"/>
                </a:solidFill>
              </a:defRPr>
            </a:pPr>
            <a:r>
              <a:rPr sz="2000" dirty="0"/>
              <a:t>• </a:t>
            </a:r>
            <a:r>
              <a:rPr sz="2000" dirty="0" err="1"/>
              <a:t>Διεργ</a:t>
            </a:r>
            <a:r>
              <a:rPr sz="2000" dirty="0"/>
              <a:t>ασία (Process): Ένα στιγμιότυπο εκτέλεσης (instance) ενός προγράμματος στη μνήμη.</a:t>
            </a:r>
          </a:p>
          <a:p>
            <a:pPr>
              <a:spcAft>
                <a:spcPts val="1000"/>
              </a:spcAft>
              <a:defRPr sz="1500">
                <a:solidFill>
                  <a:srgbClr val="0F172A"/>
                </a:solidFill>
              </a:defRPr>
            </a:pPr>
            <a:r>
              <a:rPr sz="2000" dirty="0"/>
              <a:t>• </a:t>
            </a:r>
            <a:r>
              <a:rPr sz="2000" dirty="0" err="1"/>
              <a:t>Πολλ</a:t>
            </a:r>
            <a:r>
              <a:rPr sz="2000" dirty="0"/>
              <a:t>απλές Διεργασίες: Μία εφαρμογή μπορεί να ανοίξει πολλές διεργασίες (π.χ. κα</a:t>
            </a:r>
            <a:r>
              <a:rPr sz="2000" dirty="0" err="1"/>
              <a:t>ρτέλες</a:t>
            </a:r>
            <a:r>
              <a:rPr sz="2000" dirty="0"/>
              <a:t> Chrome).</a:t>
            </a:r>
          </a:p>
          <a:p>
            <a:pPr>
              <a:spcAft>
                <a:spcPts val="1000"/>
              </a:spcAft>
              <a:defRPr sz="1500">
                <a:solidFill>
                  <a:srgbClr val="0F172A"/>
                </a:solidFill>
              </a:defRPr>
            </a:pPr>
            <a:r>
              <a:rPr sz="2000" dirty="0"/>
              <a:t>• PID (Process ID): </a:t>
            </a:r>
            <a:r>
              <a:rPr sz="2000" dirty="0" err="1"/>
              <a:t>Μον</a:t>
            </a:r>
            <a:r>
              <a:rPr sz="2000" dirty="0"/>
              <a:t>αδικός αριθμός αναγνώρισης κάθε διεργασίας από το Λ.Σ.</a:t>
            </a:r>
          </a:p>
          <a:p>
            <a:pPr>
              <a:spcAft>
                <a:spcPts val="1000"/>
              </a:spcAft>
              <a:defRPr sz="1500">
                <a:solidFill>
                  <a:srgbClr val="0F172A"/>
                </a:solidFill>
              </a:defRPr>
            </a:pPr>
            <a:r>
              <a:rPr sz="2000" dirty="0"/>
              <a:t>• Υπ</a:t>
            </a:r>
            <a:r>
              <a:rPr sz="2000" dirty="0" err="1"/>
              <a:t>ηρεσίες</a:t>
            </a:r>
            <a:r>
              <a:rPr sz="2000" dirty="0"/>
              <a:t> (Services): </a:t>
            </a:r>
            <a:r>
              <a:rPr sz="2000" dirty="0" err="1"/>
              <a:t>Διεργ</a:t>
            </a:r>
            <a:r>
              <a:rPr sz="2000" dirty="0"/>
              <a:t>ασίες παρασκηνίου που εκτελούνται αυτόνομα (π.χ. svchost.exe).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Εκτέλεση στο Προσκήνιο και στο Παρασκήνιο</a:t>
            </a:r>
          </a:p>
          <a:p>
            <a:pPr>
              <a:defRPr sz="1100" b="1">
                <a:solidFill>
                  <a:srgbClr val="2563EB"/>
                </a:solidFill>
              </a:defRPr>
            </a:pPr>
            <a:r>
              <a:t>3Η ΏΡΑ: ΚΑΤΗΓΟΡΊΕΣ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332720" cy="26314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0F172A"/>
                </a:solidFill>
              </a:defRPr>
            </a:pPr>
            <a:r>
              <a:rPr sz="2000" dirty="0"/>
              <a:t>• </a:t>
            </a:r>
            <a:r>
              <a:rPr sz="2000" dirty="0" err="1"/>
              <a:t>Προσκήνιο</a:t>
            </a:r>
            <a:r>
              <a:rPr sz="2000" dirty="0"/>
              <a:t> (Foreground): </a:t>
            </a:r>
            <a:r>
              <a:rPr sz="2000" dirty="0" err="1"/>
              <a:t>Διεργ</a:t>
            </a:r>
            <a:r>
              <a:rPr sz="2000" dirty="0"/>
              <a:t>ασίες εφαρμογών με τις οποίες αλληλεπιδρά ο χρήστης άμεσα και εμφανίζονται σε παράθυρα.</a:t>
            </a:r>
          </a:p>
          <a:p>
            <a:pPr>
              <a:spcAft>
                <a:spcPts val="1000"/>
              </a:spcAft>
              <a:defRPr sz="1500">
                <a:solidFill>
                  <a:srgbClr val="0F172A"/>
                </a:solidFill>
              </a:defRPr>
            </a:pPr>
            <a:r>
              <a:rPr sz="2000" dirty="0"/>
              <a:t>• Παρα</a:t>
            </a:r>
            <a:r>
              <a:rPr sz="2000" dirty="0" err="1"/>
              <a:t>σκήνιο</a:t>
            </a:r>
            <a:r>
              <a:rPr sz="2000" dirty="0"/>
              <a:t> (Background): </a:t>
            </a:r>
            <a:r>
              <a:rPr sz="2000" dirty="0" err="1"/>
              <a:t>Διεργ</a:t>
            </a:r>
            <a:r>
              <a:rPr sz="2000" dirty="0"/>
              <a:t>ασίες που τρέχουν σιωπηλά χωρίς να έχουν ανοικτό παράθυρο στην οθόνη.</a:t>
            </a:r>
          </a:p>
          <a:p>
            <a:pPr>
              <a:spcAft>
                <a:spcPts val="1000"/>
              </a:spcAft>
              <a:defRPr sz="1500">
                <a:solidFill>
                  <a:srgbClr val="0F172A"/>
                </a:solidFill>
              </a:defRPr>
            </a:pPr>
            <a:r>
              <a:rPr sz="2000" dirty="0"/>
              <a:t>• </a:t>
            </a:r>
            <a:r>
              <a:rPr sz="2000" dirty="0" err="1"/>
              <a:t>Διεργ</a:t>
            </a:r>
            <a:r>
              <a:rPr sz="2000" dirty="0"/>
              <a:t>ασίες Συστήματος (Windows Processes): Ζωτικές για την ομαλή λειτουργία του λειτουργικού.</a:t>
            </a:r>
          </a:p>
          <a:p>
            <a:pPr>
              <a:spcAft>
                <a:spcPts val="1000"/>
              </a:spcAft>
              <a:defRPr sz="1500">
                <a:solidFill>
                  <a:srgbClr val="0F172A"/>
                </a:solidFill>
              </a:defRPr>
            </a:pPr>
            <a:r>
              <a:rPr sz="2000" dirty="0"/>
              <a:t>• </a:t>
            </a:r>
            <a:r>
              <a:rPr sz="2000" dirty="0" err="1"/>
              <a:t>Κίνδυνος</a:t>
            </a:r>
            <a:r>
              <a:rPr sz="2000" dirty="0"/>
              <a:t>: Ο </a:t>
            </a:r>
            <a:r>
              <a:rPr sz="2000" dirty="0" err="1"/>
              <a:t>τερμ</a:t>
            </a:r>
            <a:r>
              <a:rPr sz="2000" dirty="0"/>
              <a:t>ατισμός ζωτικών διεργασιών μπορεί να προκαλέσει αστάθεια ή κατάρρευση.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Διαχείριση Εργασιών στα Windows (Task Manager)</a:t>
            </a:r>
          </a:p>
          <a:p>
            <a:pPr>
              <a:defRPr sz="1100" b="1">
                <a:solidFill>
                  <a:srgbClr val="2563EB"/>
                </a:solidFill>
              </a:defRPr>
            </a:pPr>
            <a:r>
              <a:t>3Η ΏΡΑ: ΕΠΟΠΤΕΊΑ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92240" y="1463040"/>
            <a:ext cx="4937760" cy="32470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0F172A"/>
                </a:solidFill>
              </a:defRPr>
            </a:pPr>
            <a:r>
              <a:rPr sz="2000" dirty="0"/>
              <a:t>• </a:t>
            </a:r>
            <a:r>
              <a:rPr sz="2000" dirty="0" err="1"/>
              <a:t>Άνοιγμ</a:t>
            </a:r>
            <a:r>
              <a:rPr sz="2000" dirty="0"/>
              <a:t>α: Δεξί κλικ στη γραμμή εργασιών ή με τη συντόμευση Ctrl + Shift + Esc.</a:t>
            </a:r>
          </a:p>
          <a:p>
            <a:pPr>
              <a:spcAft>
                <a:spcPts val="1000"/>
              </a:spcAft>
              <a:defRPr sz="1400">
                <a:solidFill>
                  <a:srgbClr val="0F172A"/>
                </a:solidFill>
              </a:defRPr>
            </a:pPr>
            <a:r>
              <a:rPr sz="2000" dirty="0"/>
              <a:t>• </a:t>
            </a:r>
            <a:r>
              <a:rPr sz="2000" dirty="0" err="1"/>
              <a:t>Στήλες</a:t>
            </a:r>
            <a:r>
              <a:rPr sz="2000" dirty="0"/>
              <a:t> </a:t>
            </a:r>
            <a:r>
              <a:rPr sz="2000" dirty="0" err="1"/>
              <a:t>Πόρων</a:t>
            </a:r>
            <a:r>
              <a:rPr sz="2000" dirty="0"/>
              <a:t>: </a:t>
            </a:r>
            <a:r>
              <a:rPr sz="2000" dirty="0" err="1"/>
              <a:t>Εμφ</a:t>
            </a:r>
            <a:r>
              <a:rPr sz="2000" dirty="0"/>
              <a:t>ανίζει κατανάλωση CPU, Μνήμης, Δίσκου, Δικτύου.</a:t>
            </a:r>
          </a:p>
          <a:p>
            <a:pPr>
              <a:spcAft>
                <a:spcPts val="1000"/>
              </a:spcAft>
              <a:defRPr sz="1400">
                <a:solidFill>
                  <a:srgbClr val="0F172A"/>
                </a:solidFill>
              </a:defRPr>
            </a:pPr>
            <a:r>
              <a:rPr sz="2000" dirty="0"/>
              <a:t>• Τα</a:t>
            </a:r>
            <a:r>
              <a:rPr sz="2000" dirty="0" err="1"/>
              <a:t>ξινόμηση</a:t>
            </a:r>
            <a:r>
              <a:rPr sz="2000" dirty="0"/>
              <a:t>: </a:t>
            </a:r>
            <a:r>
              <a:rPr sz="2000" dirty="0" err="1"/>
              <a:t>Με</a:t>
            </a:r>
            <a:r>
              <a:rPr sz="2000" dirty="0"/>
              <a:t> </a:t>
            </a:r>
            <a:r>
              <a:rPr sz="2000" dirty="0" err="1"/>
              <a:t>κλικ</a:t>
            </a:r>
            <a:r>
              <a:rPr sz="2000" dirty="0"/>
              <a:t> </a:t>
            </a:r>
            <a:r>
              <a:rPr sz="2000" dirty="0" err="1"/>
              <a:t>στην</a:t>
            </a:r>
            <a:r>
              <a:rPr sz="2000" dirty="0"/>
              <a:t> </a:t>
            </a:r>
            <a:r>
              <a:rPr sz="2000" dirty="0" err="1"/>
              <a:t>κεφ</a:t>
            </a:r>
            <a:r>
              <a:rPr sz="2000" dirty="0"/>
              <a:t>αλίδα εντοπίζουμε ποια διεργασία απασχολεί περισσότερο το σύστημα.</a:t>
            </a:r>
          </a:p>
          <a:p>
            <a:pPr>
              <a:spcAft>
                <a:spcPts val="1000"/>
              </a:spcAft>
              <a:defRPr sz="1400">
                <a:solidFill>
                  <a:srgbClr val="0F172A"/>
                </a:solidFill>
              </a:defRPr>
            </a:pPr>
            <a:r>
              <a:rPr sz="2000" dirty="0"/>
              <a:t>• </a:t>
            </a:r>
            <a:r>
              <a:rPr sz="2000" dirty="0" err="1"/>
              <a:t>Τερμ</a:t>
            </a:r>
            <a:r>
              <a:rPr sz="2000" dirty="0"/>
              <a:t>ατισμός (Kill): Κουμπί 'Τέλος Εργασίας' (End Task) για παγωμένες εφαρμογές.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18C6640-3169-B564-E005-74C8D58E70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97" y="1679868"/>
            <a:ext cx="5711903" cy="349826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Αναλυτική Επισκόπηση Καρτελών Task Manager</a:t>
            </a:r>
          </a:p>
          <a:p>
            <a:pPr>
              <a:defRPr sz="1100" b="1">
                <a:solidFill>
                  <a:srgbClr val="2563EB"/>
                </a:solidFill>
              </a:defRPr>
            </a:pPr>
            <a:r>
              <a:t>3Η ΏΡΑ: ΕΡΓΑΛΕΊΑ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332720" cy="31957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0F172A"/>
                </a:solidFill>
              </a:defRPr>
            </a:pPr>
            <a:r>
              <a:rPr sz="2000" dirty="0"/>
              <a:t>• </a:t>
            </a:r>
            <a:r>
              <a:rPr sz="2000" dirty="0" err="1"/>
              <a:t>Διεργ</a:t>
            </a:r>
            <a:r>
              <a:rPr sz="2000" dirty="0"/>
              <a:t>ασίες (Processes): Εφαρμογές προσκηνίου, διεργασίες παρασκηνίου και Windows.</a:t>
            </a:r>
          </a:p>
          <a:p>
            <a:pPr>
              <a:spcAft>
                <a:spcPts val="1000"/>
              </a:spcAft>
              <a:defRPr sz="1500">
                <a:solidFill>
                  <a:srgbClr val="0F172A"/>
                </a:solidFill>
              </a:defRPr>
            </a:pPr>
            <a:r>
              <a:rPr sz="2000" dirty="0"/>
              <a:t>• Επ</a:t>
            </a:r>
            <a:r>
              <a:rPr sz="2000" dirty="0" err="1"/>
              <a:t>ιδόσεις</a:t>
            </a:r>
            <a:r>
              <a:rPr sz="2000" dirty="0"/>
              <a:t> (Performance): </a:t>
            </a:r>
            <a:r>
              <a:rPr sz="2000" dirty="0" err="1"/>
              <a:t>Γρ</a:t>
            </a:r>
            <a:r>
              <a:rPr sz="2000" dirty="0"/>
              <a:t>αφήματα πραγματικού χρόνου για CPU, RAM, Δίσκους και Ethernet/Wi-Fi.</a:t>
            </a:r>
          </a:p>
          <a:p>
            <a:pPr>
              <a:spcAft>
                <a:spcPts val="1000"/>
              </a:spcAft>
              <a:defRPr sz="1500">
                <a:solidFill>
                  <a:srgbClr val="0F172A"/>
                </a:solidFill>
              </a:defRPr>
            </a:pPr>
            <a:r>
              <a:rPr sz="2000" dirty="0"/>
              <a:t>• </a:t>
            </a:r>
            <a:r>
              <a:rPr sz="2000" dirty="0" err="1"/>
              <a:t>Ιστορικό</a:t>
            </a:r>
            <a:r>
              <a:rPr sz="2000" dirty="0"/>
              <a:t> </a:t>
            </a:r>
            <a:r>
              <a:rPr sz="2000" dirty="0" err="1"/>
              <a:t>Εφ</a:t>
            </a:r>
            <a:r>
              <a:rPr sz="2000" dirty="0"/>
              <a:t>αρμογών (App History): Χρήση πόρων διαχρονικά ανά εφαρμογή.</a:t>
            </a:r>
          </a:p>
          <a:p>
            <a:pPr>
              <a:spcAft>
                <a:spcPts val="1000"/>
              </a:spcAft>
              <a:defRPr sz="1500">
                <a:solidFill>
                  <a:srgbClr val="0F172A"/>
                </a:solidFill>
              </a:defRPr>
            </a:pPr>
            <a:r>
              <a:rPr sz="2000" dirty="0"/>
              <a:t>• </a:t>
            </a:r>
            <a:r>
              <a:rPr sz="2000" dirty="0" err="1"/>
              <a:t>Εκκίνηση</a:t>
            </a:r>
            <a:r>
              <a:rPr sz="2000" dirty="0"/>
              <a:t> (Startup): </a:t>
            </a:r>
            <a:r>
              <a:rPr sz="2000" dirty="0" err="1"/>
              <a:t>Προγράμμ</a:t>
            </a:r>
            <a:r>
              <a:rPr sz="2000" dirty="0"/>
              <a:t>ατα που εκκινούν αυτόματα με τα Windows και η επίπτωσή τους.</a:t>
            </a:r>
          </a:p>
          <a:p>
            <a:pPr>
              <a:spcAft>
                <a:spcPts val="1000"/>
              </a:spcAft>
              <a:defRPr sz="1500">
                <a:solidFill>
                  <a:srgbClr val="0F172A"/>
                </a:solidFill>
              </a:defRPr>
            </a:pPr>
            <a:r>
              <a:rPr sz="2000" dirty="0"/>
              <a:t>• </a:t>
            </a:r>
            <a:r>
              <a:rPr sz="2000" dirty="0" err="1"/>
              <a:t>Λε</a:t>
            </a:r>
            <a:r>
              <a:rPr sz="2000" dirty="0"/>
              <a:t>πτομέρειες (Details): Εμφάνιση του PID, κατάστασης (Running/Suspended) και χρήστη κατόχου.</a:t>
            </a:r>
          </a:p>
          <a:p>
            <a:pPr>
              <a:spcAft>
                <a:spcPts val="1000"/>
              </a:spcAft>
              <a:defRPr sz="1500">
                <a:solidFill>
                  <a:srgbClr val="0F172A"/>
                </a:solidFill>
              </a:defRPr>
            </a:pPr>
            <a:r>
              <a:rPr sz="2000" dirty="0"/>
              <a:t>• Υπ</a:t>
            </a:r>
            <a:r>
              <a:rPr sz="2000" dirty="0" err="1"/>
              <a:t>ηρεσίες</a:t>
            </a:r>
            <a:r>
              <a:rPr sz="2000" dirty="0"/>
              <a:t> (Services): </a:t>
            </a:r>
            <a:r>
              <a:rPr sz="2000" dirty="0" err="1"/>
              <a:t>Πλήρης</a:t>
            </a:r>
            <a:r>
              <a:rPr sz="2000" dirty="0"/>
              <a:t> </a:t>
            </a:r>
            <a:r>
              <a:rPr sz="2000" dirty="0" err="1"/>
              <a:t>λίστ</a:t>
            </a:r>
            <a:r>
              <a:rPr sz="2000" dirty="0"/>
              <a:t>α υπηρεσιών, κατάσταση (Started/Stopped) και PID.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Συστήματα Αρχείων: FAT32 vs NTFS</a:t>
            </a:r>
          </a:p>
          <a:p>
            <a:pPr>
              <a:defRPr sz="1100" b="1">
                <a:solidFill>
                  <a:srgbClr val="2563EB"/>
                </a:solidFill>
              </a:defRPr>
            </a:pPr>
            <a:r>
              <a:t>4Η ΏΡΑ: ΑΠΟΘΉΚΕΥΣΗ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332720" cy="33752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0F172A"/>
                </a:solidFill>
              </a:defRPr>
            </a:pPr>
            <a:r>
              <a:rPr sz="2000" dirty="0"/>
              <a:t>• </a:t>
            </a:r>
            <a:r>
              <a:rPr sz="2000" dirty="0" err="1"/>
              <a:t>Σύστημ</a:t>
            </a:r>
            <a:r>
              <a:rPr sz="2000" dirty="0"/>
              <a:t>α Αρχείων: Μέθοδος οργάνωσης, αποθήκευσης και ανάκτησης αρχείων σε μπλοκ (blocks) και συμπλέγματα (clusters).</a:t>
            </a:r>
          </a:p>
          <a:p>
            <a:pPr>
              <a:spcAft>
                <a:spcPts val="1000"/>
              </a:spcAft>
              <a:defRPr sz="1500">
                <a:solidFill>
                  <a:srgbClr val="0F172A"/>
                </a:solidFill>
              </a:defRPr>
            </a:pPr>
            <a:r>
              <a:rPr sz="2000" dirty="0"/>
              <a:t>• </a:t>
            </a:r>
            <a:r>
              <a:rPr sz="2000" dirty="0" err="1"/>
              <a:t>Σύστημ</a:t>
            </a:r>
            <a:r>
              <a:rPr sz="2000" dirty="0"/>
              <a:t>α FAT32: Παλαιότερο πρότυπο MS-DOS/Windows. Βα</a:t>
            </a:r>
            <a:r>
              <a:rPr sz="2000" dirty="0" err="1"/>
              <a:t>σικό</a:t>
            </a:r>
            <a:r>
              <a:rPr sz="2000" dirty="0"/>
              <a:t> </a:t>
            </a:r>
            <a:r>
              <a:rPr sz="2000" dirty="0" err="1"/>
              <a:t>μειονέκτημ</a:t>
            </a:r>
            <a:r>
              <a:rPr sz="2000" dirty="0"/>
              <a:t>α: μέγιστο μέγεθος αρχείου μόλις 4 GB.</a:t>
            </a:r>
          </a:p>
          <a:p>
            <a:pPr>
              <a:spcAft>
                <a:spcPts val="1000"/>
              </a:spcAft>
              <a:defRPr sz="1500">
                <a:solidFill>
                  <a:srgbClr val="0F172A"/>
                </a:solidFill>
              </a:defRPr>
            </a:pPr>
            <a:r>
              <a:rPr sz="2000" dirty="0"/>
              <a:t>• </a:t>
            </a:r>
            <a:r>
              <a:rPr sz="2000" dirty="0" err="1"/>
              <a:t>Σύστημ</a:t>
            </a:r>
            <a:r>
              <a:rPr sz="2000" dirty="0"/>
              <a:t>α NTFS: Σύγχρονο πρότυπο Windows. Υπ</a:t>
            </a:r>
            <a:r>
              <a:rPr sz="2000" dirty="0" err="1"/>
              <a:t>οστηρίζει</a:t>
            </a:r>
            <a:r>
              <a:rPr sz="2000" dirty="0"/>
              <a:t> </a:t>
            </a:r>
            <a:r>
              <a:rPr sz="2000" dirty="0" err="1"/>
              <a:t>τεράστι</a:t>
            </a:r>
            <a:r>
              <a:rPr sz="2000" dirty="0"/>
              <a:t>α αρχεία (έως 8 PB) και πίνακα MFT (Master File Table).</a:t>
            </a:r>
          </a:p>
          <a:p>
            <a:pPr>
              <a:spcAft>
                <a:spcPts val="1000"/>
              </a:spcAft>
              <a:defRPr sz="1500">
                <a:solidFill>
                  <a:srgbClr val="0F172A"/>
                </a:solidFill>
              </a:defRPr>
            </a:pPr>
            <a:r>
              <a:rPr sz="2000" dirty="0"/>
              <a:t>• </a:t>
            </a:r>
            <a:r>
              <a:rPr sz="2000" dirty="0" err="1"/>
              <a:t>Ασφάλει</a:t>
            </a:r>
            <a:r>
              <a:rPr sz="2000" dirty="0"/>
              <a:t>α NTFS: Λίστες ελέγχου πρόσβασης (ACL) για δικαιώματα χρήστη (Read, Write, Execute).</a:t>
            </a:r>
          </a:p>
          <a:p>
            <a:pPr>
              <a:spcAft>
                <a:spcPts val="1000"/>
              </a:spcAft>
              <a:defRPr sz="1500">
                <a:solidFill>
                  <a:srgbClr val="0F172A"/>
                </a:solidFill>
              </a:defRPr>
            </a:pPr>
            <a:r>
              <a:rPr sz="2000" dirty="0"/>
              <a:t>• </a:t>
            </a:r>
            <a:r>
              <a:rPr sz="2000" dirty="0" err="1"/>
              <a:t>Ακερ</a:t>
            </a:r>
            <a:r>
              <a:rPr sz="2000" dirty="0"/>
              <a:t>αιότητα: Καταγραφή ενεργειών (Journaling) για αυτόματη ανάκαμψη μετά από αστοχία.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9AAD107-1461-2016-9438-E2CA7CBDF6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2267" y="273547"/>
            <a:ext cx="10605419" cy="5859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373912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A9F3B30-F5EB-4CE2-5218-B995ED7951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7461" y="430582"/>
            <a:ext cx="7695308" cy="5996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579827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Ιδιότητες Αρχείων &amp; Μονάδων Δίσκου στα Windows</a:t>
            </a:r>
          </a:p>
          <a:p>
            <a:pPr>
              <a:defRPr sz="1100" b="1">
                <a:solidFill>
                  <a:srgbClr val="2563EB"/>
                </a:solidFill>
              </a:defRPr>
            </a:pPr>
            <a:r>
              <a:t>4Η ΏΡΑ: ΙΔΙΌΤΗΤΕΣ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11880" y="1920240"/>
            <a:ext cx="5212080" cy="29392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0F172A"/>
                </a:solidFill>
              </a:defRPr>
            </a:pPr>
            <a:r>
              <a:rPr sz="2000" dirty="0"/>
              <a:t>• </a:t>
            </a:r>
            <a:r>
              <a:rPr sz="2000" dirty="0" err="1"/>
              <a:t>Προ</a:t>
            </a:r>
            <a:r>
              <a:rPr sz="2000" dirty="0"/>
              <a:t>βολή Ιδιοτήτων: Δεξί κλικ στη μονάδα δίσκου ή αρχείο -&gt; Επιλογή 'Ιδιότητες'.</a:t>
            </a:r>
          </a:p>
          <a:p>
            <a:pPr>
              <a:spcAft>
                <a:spcPts val="1000"/>
              </a:spcAft>
              <a:defRPr sz="1500">
                <a:solidFill>
                  <a:srgbClr val="0F172A"/>
                </a:solidFill>
              </a:defRPr>
            </a:pPr>
            <a:r>
              <a:rPr sz="2000" dirty="0"/>
              <a:t>• </a:t>
            </a:r>
            <a:r>
              <a:rPr sz="2000" dirty="0" err="1"/>
              <a:t>Σύστημ</a:t>
            </a:r>
            <a:r>
              <a:rPr sz="2000" dirty="0"/>
              <a:t>α Αρχείων: Εμφανίζει αν ο δίσκος είναι διαμορφωμένος σε NTFS ή FAT.</a:t>
            </a:r>
          </a:p>
          <a:p>
            <a:pPr>
              <a:spcAft>
                <a:spcPts val="1000"/>
              </a:spcAft>
              <a:defRPr sz="1500">
                <a:solidFill>
                  <a:srgbClr val="0F172A"/>
                </a:solidFill>
              </a:defRPr>
            </a:pPr>
            <a:r>
              <a:rPr sz="2000" dirty="0"/>
              <a:t>• </a:t>
            </a:r>
            <a:r>
              <a:rPr sz="2000" dirty="0" err="1"/>
              <a:t>Χώρος</a:t>
            </a:r>
            <a:r>
              <a:rPr sz="2000" dirty="0"/>
              <a:t>: </a:t>
            </a:r>
            <a:r>
              <a:rPr sz="2000" dirty="0" err="1"/>
              <a:t>Δεσμευμένος</a:t>
            </a:r>
            <a:r>
              <a:rPr sz="2000" dirty="0"/>
              <a:t> </a:t>
            </a:r>
            <a:r>
              <a:rPr sz="2000" dirty="0" err="1"/>
              <a:t>χώρος</a:t>
            </a:r>
            <a:r>
              <a:rPr sz="2000" dirty="0"/>
              <a:t> vs </a:t>
            </a:r>
            <a:r>
              <a:rPr sz="2000" dirty="0" err="1"/>
              <a:t>Ελεύθερος</a:t>
            </a:r>
            <a:r>
              <a:rPr sz="2000" dirty="0"/>
              <a:t> </a:t>
            </a:r>
            <a:r>
              <a:rPr sz="2000" dirty="0" err="1"/>
              <a:t>χώρος</a:t>
            </a:r>
            <a:r>
              <a:rPr sz="2000" dirty="0"/>
              <a:t> </a:t>
            </a:r>
            <a:r>
              <a:rPr sz="2000" dirty="0" err="1"/>
              <a:t>σε</a:t>
            </a:r>
            <a:r>
              <a:rPr sz="2000" dirty="0"/>
              <a:t> Bytes και GB.</a:t>
            </a:r>
          </a:p>
          <a:p>
            <a:pPr>
              <a:spcAft>
                <a:spcPts val="1000"/>
              </a:spcAft>
              <a:defRPr sz="1500">
                <a:solidFill>
                  <a:srgbClr val="0F172A"/>
                </a:solidFill>
              </a:defRPr>
            </a:pPr>
            <a:r>
              <a:rPr sz="2000" dirty="0"/>
              <a:t>• Χαρα</a:t>
            </a:r>
            <a:r>
              <a:rPr sz="2000" dirty="0" err="1"/>
              <a:t>κτηριστικά</a:t>
            </a:r>
            <a:r>
              <a:rPr sz="2000" dirty="0"/>
              <a:t>: Επ</a:t>
            </a:r>
            <a:r>
              <a:rPr sz="2000" dirty="0" err="1"/>
              <a:t>ιλογές</a:t>
            </a:r>
            <a:r>
              <a:rPr sz="2000" dirty="0"/>
              <a:t> </a:t>
            </a:r>
            <a:r>
              <a:rPr sz="2000" dirty="0" err="1"/>
              <a:t>συμ</a:t>
            </a:r>
            <a:r>
              <a:rPr sz="2000" dirty="0"/>
              <a:t>πίεσης δίσκου και δημιουργίας ευρετηρίου.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Είδη, Επεκτάσεις και Προεπιλεγμένες Εφαρμογές</a:t>
            </a:r>
          </a:p>
          <a:p>
            <a:pPr>
              <a:defRPr sz="1100" b="1">
                <a:solidFill>
                  <a:srgbClr val="2563EB"/>
                </a:solidFill>
              </a:defRPr>
            </a:pPr>
            <a:r>
              <a:t>4Η ΏΡΑ: ΑΡΧΕΊΑ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35687" y="1741335"/>
            <a:ext cx="3975652" cy="30162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0F172A"/>
                </a:solidFill>
              </a:defRPr>
            </a:pPr>
            <a:r>
              <a:rPr dirty="0"/>
              <a:t>• Επ</a:t>
            </a:r>
            <a:r>
              <a:rPr dirty="0" err="1"/>
              <a:t>έκτ</a:t>
            </a:r>
            <a:r>
              <a:rPr dirty="0"/>
              <a:t>αση Αρχείου (Extension): Οι χαρακτήρες μετά την τελεία (π.χ. .txt, .docx, .pdf, .exe).</a:t>
            </a:r>
          </a:p>
          <a:p>
            <a:pPr>
              <a:spcAft>
                <a:spcPts val="1000"/>
              </a:spcAft>
              <a:defRPr sz="1500">
                <a:solidFill>
                  <a:srgbClr val="0F172A"/>
                </a:solidFill>
              </a:defRPr>
            </a:pPr>
            <a:r>
              <a:rPr dirty="0"/>
              <a:t>• </a:t>
            </a:r>
            <a:r>
              <a:rPr dirty="0" err="1"/>
              <a:t>Σύνδεση</a:t>
            </a:r>
            <a:r>
              <a:rPr dirty="0"/>
              <a:t>: Η επ</a:t>
            </a:r>
            <a:r>
              <a:rPr dirty="0" err="1"/>
              <a:t>έκτ</a:t>
            </a:r>
            <a:r>
              <a:rPr dirty="0"/>
              <a:t>αση δηλώνει στο Λ.Σ. π</a:t>
            </a:r>
            <a:r>
              <a:rPr dirty="0" err="1"/>
              <a:t>οι</a:t>
            </a:r>
            <a:r>
              <a:rPr dirty="0"/>
              <a:t>α εφαρμογή μπορεί να ανοίξει και να διαχειριστεί το αρχείο.</a:t>
            </a:r>
          </a:p>
          <a:p>
            <a:pPr>
              <a:spcAft>
                <a:spcPts val="1000"/>
              </a:spcAft>
              <a:defRPr sz="1500">
                <a:solidFill>
                  <a:srgbClr val="0F172A"/>
                </a:solidFill>
              </a:defRPr>
            </a:pPr>
            <a:r>
              <a:rPr dirty="0"/>
              <a:t>• </a:t>
            </a:r>
            <a:r>
              <a:rPr dirty="0" err="1"/>
              <a:t>Προε</a:t>
            </a:r>
            <a:r>
              <a:rPr dirty="0"/>
              <a:t>πιλεγμένες Εφαρμογές: Το Λ.Σ. </a:t>
            </a:r>
            <a:r>
              <a:rPr dirty="0" err="1"/>
              <a:t>δι</a:t>
            </a:r>
            <a:r>
              <a:rPr dirty="0"/>
              <a:t>ατηρεί πίνακα αντιστοίχισης τύπων αρχείων με συγκεκριμένα προγράμματα.</a:t>
            </a:r>
          </a:p>
          <a:p>
            <a:pPr>
              <a:spcAft>
                <a:spcPts val="1000"/>
              </a:spcAft>
              <a:defRPr sz="1500">
                <a:solidFill>
                  <a:srgbClr val="0F172A"/>
                </a:solidFill>
              </a:defRPr>
            </a:pPr>
            <a:r>
              <a:rPr dirty="0"/>
              <a:t>• Βα</a:t>
            </a:r>
            <a:r>
              <a:rPr dirty="0" err="1"/>
              <a:t>σικές</a:t>
            </a:r>
            <a:r>
              <a:rPr dirty="0"/>
              <a:t> </a:t>
            </a:r>
            <a:r>
              <a:rPr dirty="0" err="1"/>
              <a:t>Ιδιότητες</a:t>
            </a:r>
            <a:r>
              <a:rPr dirty="0"/>
              <a:t>: </a:t>
            </a:r>
            <a:r>
              <a:rPr dirty="0" err="1"/>
              <a:t>Όνομ</a:t>
            </a:r>
            <a:r>
              <a:rPr dirty="0"/>
              <a:t>α, Θέση (Απόλυτη διαδρομή), Μέγεθος, Ημερομηνίες (Δημιουργίας, Τροποποίησης, Προσπέλασης).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DC03BE1-38DF-4F9F-584C-15956052BB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5567291" cy="4534293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Έλεγχος &amp; Επιδιόρθωση Δίσκου με CHKDSK</a:t>
            </a:r>
          </a:p>
          <a:p>
            <a:pPr>
              <a:defRPr sz="1100" b="1">
                <a:solidFill>
                  <a:srgbClr val="2563EB"/>
                </a:solidFill>
              </a:defRPr>
            </a:pPr>
            <a:r>
              <a:t>4Η ΏΡΑ: ΣΥΝΤΉΡΗΣΗ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81739" y="1681701"/>
            <a:ext cx="5029200" cy="3554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0F172A"/>
                </a:solidFill>
              </a:defRPr>
            </a:pPr>
            <a:r>
              <a:rPr sz="2000" dirty="0"/>
              <a:t>• </a:t>
            </a:r>
            <a:r>
              <a:rPr sz="2000" dirty="0" err="1"/>
              <a:t>Εργ</a:t>
            </a:r>
            <a:r>
              <a:rPr sz="2000" dirty="0"/>
              <a:t>αλείο CHKDSK: Σαρώνει και επιδιορθώνει σφάλματα του συστήματος αρχείων και κατεστραμμένους τομείς (bad sectors).</a:t>
            </a:r>
          </a:p>
          <a:p>
            <a:pPr>
              <a:spcAft>
                <a:spcPts val="1000"/>
              </a:spcAft>
              <a:defRPr sz="1400">
                <a:solidFill>
                  <a:srgbClr val="0F172A"/>
                </a:solidFill>
              </a:defRPr>
            </a:pPr>
            <a:r>
              <a:rPr sz="2000" dirty="0"/>
              <a:t>• </a:t>
            </a:r>
            <a:r>
              <a:rPr sz="2000" dirty="0" err="1"/>
              <a:t>Εκτέλεση</a:t>
            </a:r>
            <a:r>
              <a:rPr sz="2000" dirty="0"/>
              <a:t> από CMD: Απα</a:t>
            </a:r>
            <a:r>
              <a:rPr sz="2000" dirty="0" err="1"/>
              <a:t>ιτείτ</a:t>
            </a:r>
            <a:r>
              <a:rPr sz="2000" dirty="0"/>
              <a:t>αι δικαίωμα Διαχειριστή (Run as Administrator).</a:t>
            </a:r>
          </a:p>
          <a:p>
            <a:pPr>
              <a:spcAft>
                <a:spcPts val="1000"/>
              </a:spcAft>
              <a:defRPr sz="1400">
                <a:solidFill>
                  <a:srgbClr val="0F172A"/>
                </a:solidFill>
              </a:defRPr>
            </a:pPr>
            <a:r>
              <a:rPr sz="2000" dirty="0"/>
              <a:t>• Βα</a:t>
            </a:r>
            <a:r>
              <a:rPr sz="2000" dirty="0" err="1"/>
              <a:t>σική</a:t>
            </a:r>
            <a:r>
              <a:rPr sz="2000" dirty="0"/>
              <a:t> </a:t>
            </a:r>
            <a:r>
              <a:rPr sz="2000" dirty="0" err="1"/>
              <a:t>Εντολή</a:t>
            </a:r>
            <a:r>
              <a:rPr sz="2000" dirty="0"/>
              <a:t>: </a:t>
            </a:r>
            <a:r>
              <a:rPr sz="2000" dirty="0" err="1"/>
              <a:t>chkdsk</a:t>
            </a:r>
            <a:r>
              <a:rPr sz="2000" dirty="0"/>
              <a:t> C: /f </a:t>
            </a:r>
            <a:r>
              <a:rPr sz="2000" dirty="0" err="1"/>
              <a:t>γι</a:t>
            </a:r>
            <a:r>
              <a:rPr sz="2000" dirty="0"/>
              <a:t>α διόρθωση σφαλμάτων δίσκου.</a:t>
            </a:r>
          </a:p>
          <a:p>
            <a:pPr>
              <a:spcAft>
                <a:spcPts val="1000"/>
              </a:spcAft>
              <a:defRPr sz="1400">
                <a:solidFill>
                  <a:srgbClr val="0F172A"/>
                </a:solidFill>
              </a:defRPr>
            </a:pPr>
            <a:r>
              <a:rPr sz="2000" dirty="0"/>
              <a:t>• Επα</a:t>
            </a:r>
            <a:r>
              <a:rPr sz="2000" dirty="0" err="1"/>
              <a:t>νεκκίνηση</a:t>
            </a:r>
            <a:r>
              <a:rPr sz="2000" dirty="0"/>
              <a:t>: </a:t>
            </a:r>
            <a:r>
              <a:rPr sz="2000" dirty="0" err="1"/>
              <a:t>Εάν</a:t>
            </a:r>
            <a:r>
              <a:rPr sz="2000" dirty="0"/>
              <a:t> ο </a:t>
            </a:r>
            <a:r>
              <a:rPr sz="2000" dirty="0" err="1"/>
              <a:t>τόμος</a:t>
            </a:r>
            <a:r>
              <a:rPr sz="2000" dirty="0"/>
              <a:t> </a:t>
            </a:r>
            <a:r>
              <a:rPr sz="2000" dirty="0" err="1"/>
              <a:t>χρησιμο</a:t>
            </a:r>
            <a:r>
              <a:rPr sz="2000" dirty="0"/>
              <a:t>ποιείται, ο έλεγχος προγραμματίζεται στην επόμενη επανεκκίνηση (Y/N).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Συμπίεση Δεδομένων: Απωλεστική &amp; Μη Απωλεστική</a:t>
            </a:r>
          </a:p>
          <a:p>
            <a:pPr>
              <a:defRPr sz="1100" b="1">
                <a:solidFill>
                  <a:srgbClr val="2563EB"/>
                </a:solidFill>
              </a:defRPr>
            </a:pPr>
            <a:r>
              <a:t>4Η ΏΡΑ: ΣΥΜΠΊΕΣΗ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332720" cy="23237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0F172A"/>
                </a:solidFill>
              </a:defRPr>
            </a:pPr>
            <a:r>
              <a:rPr sz="2000" dirty="0"/>
              <a:t>• </a:t>
            </a:r>
            <a:r>
              <a:rPr sz="2000" dirty="0" err="1"/>
              <a:t>Μη</a:t>
            </a:r>
            <a:r>
              <a:rPr sz="2000" dirty="0"/>
              <a:t> Απ</a:t>
            </a:r>
            <a:r>
              <a:rPr sz="2000" dirty="0" err="1"/>
              <a:t>ωλεστική</a:t>
            </a:r>
            <a:r>
              <a:rPr sz="2000" dirty="0"/>
              <a:t> (Lossless): </a:t>
            </a:r>
            <a:r>
              <a:rPr sz="2000" dirty="0" err="1"/>
              <a:t>Δεν</a:t>
            </a:r>
            <a:r>
              <a:rPr sz="2000" dirty="0"/>
              <a:t> </a:t>
            </a:r>
            <a:r>
              <a:rPr sz="2000" dirty="0" err="1"/>
              <a:t>χάνετ</a:t>
            </a:r>
            <a:r>
              <a:rPr sz="2000" dirty="0"/>
              <a:t>αι κανένα δεδομένο (π.χ. ZIP, 7z). Απαρα</a:t>
            </a:r>
            <a:r>
              <a:rPr sz="2000" dirty="0" err="1"/>
              <a:t>ίτητη</a:t>
            </a:r>
            <a:r>
              <a:rPr sz="2000" dirty="0"/>
              <a:t> </a:t>
            </a:r>
            <a:r>
              <a:rPr sz="2000" dirty="0" err="1"/>
              <a:t>γι</a:t>
            </a:r>
            <a:r>
              <a:rPr sz="2000" dirty="0"/>
              <a:t>α κείμενα, κώδικα και προγράμματα.</a:t>
            </a:r>
          </a:p>
          <a:p>
            <a:pPr>
              <a:spcAft>
                <a:spcPts val="1000"/>
              </a:spcAft>
              <a:defRPr sz="1500">
                <a:solidFill>
                  <a:srgbClr val="0F172A"/>
                </a:solidFill>
              </a:defRPr>
            </a:pPr>
            <a:r>
              <a:rPr sz="2000" dirty="0"/>
              <a:t>• Απ</a:t>
            </a:r>
            <a:r>
              <a:rPr sz="2000" dirty="0" err="1"/>
              <a:t>ωλεστική</a:t>
            </a:r>
            <a:r>
              <a:rPr sz="2000" dirty="0"/>
              <a:t> (Lossy): </a:t>
            </a:r>
            <a:r>
              <a:rPr sz="2000" dirty="0" err="1"/>
              <a:t>Θυσιάζει</a:t>
            </a:r>
            <a:r>
              <a:rPr sz="2000" dirty="0"/>
              <a:t> α</a:t>
            </a:r>
            <a:r>
              <a:rPr sz="2000" dirty="0" err="1"/>
              <a:t>σήμ</a:t>
            </a:r>
            <a:r>
              <a:rPr sz="2000" dirty="0"/>
              <a:t>αντη λεπτομέρεια για μέγιστη εξοικονόμηση χώρου (π.χ. MP3, JPEG).</a:t>
            </a:r>
          </a:p>
          <a:p>
            <a:pPr>
              <a:spcAft>
                <a:spcPts val="1000"/>
              </a:spcAft>
              <a:defRPr sz="1500">
                <a:solidFill>
                  <a:srgbClr val="0F172A"/>
                </a:solidFill>
              </a:defRPr>
            </a:pPr>
            <a:r>
              <a:rPr sz="2000" dirty="0"/>
              <a:t>• </a:t>
            </a:r>
            <a:r>
              <a:rPr sz="2000" dirty="0" err="1"/>
              <a:t>Ενσωμ</a:t>
            </a:r>
            <a:r>
              <a:rPr sz="2000" dirty="0"/>
              <a:t>ατωμένη Συμπίεση Windows: Δεξί κλικ -&gt; 'Συμπίεση σε αρχείο ZIP'.</a:t>
            </a:r>
          </a:p>
          <a:p>
            <a:pPr>
              <a:spcAft>
                <a:spcPts val="1000"/>
              </a:spcAft>
              <a:defRPr sz="1500">
                <a:solidFill>
                  <a:srgbClr val="0F172A"/>
                </a:solidFill>
              </a:defRPr>
            </a:pPr>
            <a:r>
              <a:rPr sz="2000" dirty="0"/>
              <a:t>• </a:t>
            </a:r>
            <a:r>
              <a:rPr sz="2000" dirty="0" err="1"/>
              <a:t>Πρόγρ</a:t>
            </a:r>
            <a:r>
              <a:rPr sz="2000" dirty="0"/>
              <a:t>αμμα 7-Zip: Ανοικτού κώδικα εργαλείο υψηλής συμπίεσης και κρυπτογράφησης AES-256.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Quiz Αυτοαξιολόγησης (Σωστό / Λάθος)</a:t>
            </a:r>
          </a:p>
          <a:p>
            <a:pPr>
              <a:defRPr sz="1100" b="1">
                <a:solidFill>
                  <a:srgbClr val="2563EB"/>
                </a:solidFill>
              </a:defRPr>
            </a:pPr>
            <a:r>
              <a:t>ΑΞΙΟΛΌΓΗΣΗ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332720" cy="30162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0F172A"/>
                </a:solidFill>
              </a:defRPr>
            </a:pPr>
            <a:r>
              <a:rPr sz="2000" dirty="0"/>
              <a:t>1. </a:t>
            </a:r>
            <a:r>
              <a:rPr sz="2000" dirty="0" err="1"/>
              <a:t>Το</a:t>
            </a:r>
            <a:r>
              <a:rPr sz="2000" dirty="0"/>
              <a:t> Λ.Σ. α</a:t>
            </a:r>
            <a:r>
              <a:rPr sz="2000" dirty="0" err="1"/>
              <a:t>νήκει</a:t>
            </a:r>
            <a:r>
              <a:rPr sz="2000" dirty="0"/>
              <a:t> </a:t>
            </a:r>
            <a:r>
              <a:rPr sz="2000" dirty="0" err="1"/>
              <a:t>στο</a:t>
            </a:r>
            <a:r>
              <a:rPr sz="2000" dirty="0"/>
              <a:t> </a:t>
            </a:r>
            <a:r>
              <a:rPr sz="2000" dirty="0" err="1"/>
              <a:t>λογισμικό</a:t>
            </a:r>
            <a:r>
              <a:rPr sz="2000" dirty="0"/>
              <a:t> </a:t>
            </a:r>
            <a:r>
              <a:rPr sz="2000" dirty="0" err="1"/>
              <a:t>εφ</a:t>
            </a:r>
            <a:r>
              <a:rPr sz="2000" dirty="0"/>
              <a:t>αρμογών. [Σ / Λ]</a:t>
            </a:r>
          </a:p>
          <a:p>
            <a:pPr>
              <a:spcAft>
                <a:spcPts val="1000"/>
              </a:spcAft>
              <a:defRPr sz="1400">
                <a:solidFill>
                  <a:srgbClr val="0F172A"/>
                </a:solidFill>
              </a:defRPr>
            </a:pPr>
            <a:r>
              <a:rPr sz="2000" dirty="0"/>
              <a:t>2. </a:t>
            </a:r>
            <a:r>
              <a:rPr sz="2000" dirty="0" err="1"/>
              <a:t>Το</a:t>
            </a:r>
            <a:r>
              <a:rPr sz="2000" dirty="0"/>
              <a:t> MacOS </a:t>
            </a:r>
            <a:r>
              <a:rPr sz="2000" dirty="0" err="1"/>
              <a:t>είν</a:t>
            </a:r>
            <a:r>
              <a:rPr sz="2000" dirty="0"/>
              <a:t>αι ανοικτού κώδικα και τρέχει σε κάθε PC. [Σ / Λ]</a:t>
            </a:r>
          </a:p>
          <a:p>
            <a:pPr>
              <a:spcAft>
                <a:spcPts val="1000"/>
              </a:spcAft>
              <a:defRPr sz="1400">
                <a:solidFill>
                  <a:srgbClr val="0F172A"/>
                </a:solidFill>
              </a:defRPr>
            </a:pPr>
            <a:r>
              <a:rPr sz="2000" dirty="0"/>
              <a:t>3. Ο π</a:t>
            </a:r>
            <a:r>
              <a:rPr sz="2000" dirty="0" err="1"/>
              <a:t>υρήν</a:t>
            </a:r>
            <a:r>
              <a:rPr sz="2000" dirty="0"/>
              <a:t>ας (Kernel) φορτώνεται πρώτος στη μνήμη RAM. [Σ / Λ]</a:t>
            </a:r>
          </a:p>
          <a:p>
            <a:pPr>
              <a:spcAft>
                <a:spcPts val="1000"/>
              </a:spcAft>
              <a:defRPr sz="1400">
                <a:solidFill>
                  <a:srgbClr val="0F172A"/>
                </a:solidFill>
              </a:defRPr>
            </a:pPr>
            <a:r>
              <a:rPr sz="2000" dirty="0"/>
              <a:t>4. </a:t>
            </a:r>
            <a:r>
              <a:rPr sz="2000" dirty="0" err="1"/>
              <a:t>Μι</a:t>
            </a:r>
            <a:r>
              <a:rPr sz="2000" dirty="0"/>
              <a:t>α εφαρμογή μπορεί να εκτελεστεί απευθείας από τον σκληρό δίσκο χωρίς τη RAM. [Σ / Λ]</a:t>
            </a:r>
          </a:p>
          <a:p>
            <a:pPr>
              <a:spcAft>
                <a:spcPts val="1000"/>
              </a:spcAft>
              <a:defRPr sz="1400">
                <a:solidFill>
                  <a:srgbClr val="0F172A"/>
                </a:solidFill>
              </a:defRPr>
            </a:pPr>
            <a:r>
              <a:rPr sz="2000" dirty="0"/>
              <a:t>5. </a:t>
            </a:r>
            <a:r>
              <a:rPr sz="2000" dirty="0" err="1"/>
              <a:t>Το</a:t>
            </a:r>
            <a:r>
              <a:rPr sz="2000" dirty="0"/>
              <a:t> </a:t>
            </a:r>
            <a:r>
              <a:rPr sz="2000" dirty="0" err="1"/>
              <a:t>σύστημ</a:t>
            </a:r>
            <a:r>
              <a:rPr sz="2000" dirty="0"/>
              <a:t>α FAT32 επιτρέπει αρχεία άνω των 4 GB. [Σ / Λ]</a:t>
            </a:r>
          </a:p>
          <a:p>
            <a:pPr>
              <a:spcAft>
                <a:spcPts val="1000"/>
              </a:spcAft>
              <a:defRPr sz="1400">
                <a:solidFill>
                  <a:srgbClr val="0F172A"/>
                </a:solidFill>
              </a:defRPr>
            </a:pPr>
            <a:r>
              <a:rPr sz="2000" dirty="0"/>
              <a:t>6. </a:t>
            </a:r>
            <a:r>
              <a:rPr sz="2000" dirty="0" err="1"/>
              <a:t>Το</a:t>
            </a:r>
            <a:r>
              <a:rPr sz="2000" dirty="0"/>
              <a:t> NTFS υπ</a:t>
            </a:r>
            <a:r>
              <a:rPr sz="2000" dirty="0" err="1"/>
              <a:t>οστηρίζει</a:t>
            </a:r>
            <a:r>
              <a:rPr sz="2000" dirty="0"/>
              <a:t> </a:t>
            </a:r>
            <a:r>
              <a:rPr sz="2000" dirty="0" err="1"/>
              <a:t>λίστες</a:t>
            </a:r>
            <a:r>
              <a:rPr sz="2000" dirty="0"/>
              <a:t> </a:t>
            </a:r>
            <a:r>
              <a:rPr sz="2000" dirty="0" err="1"/>
              <a:t>ελέγχου</a:t>
            </a:r>
            <a:r>
              <a:rPr sz="2000" dirty="0"/>
              <a:t> π</a:t>
            </a:r>
            <a:r>
              <a:rPr sz="2000" dirty="0" err="1"/>
              <a:t>ρόσ</a:t>
            </a:r>
            <a:r>
              <a:rPr sz="2000" dirty="0"/>
              <a:t>βασης (ACLs). [Σ / Λ]</a:t>
            </a:r>
          </a:p>
          <a:p>
            <a:pPr>
              <a:spcAft>
                <a:spcPts val="1000"/>
              </a:spcAft>
              <a:defRPr sz="1400">
                <a:solidFill>
                  <a:srgbClr val="0F172A"/>
                </a:solidFill>
              </a:defRPr>
            </a:pPr>
            <a:r>
              <a:rPr sz="2000" dirty="0"/>
              <a:t>7. Η απ</a:t>
            </a:r>
            <a:r>
              <a:rPr sz="2000" dirty="0" err="1"/>
              <a:t>εγκ</a:t>
            </a:r>
            <a:r>
              <a:rPr sz="2000" dirty="0"/>
              <a:t>ατάσταση μιας εφαρμογής διαγράφει και τα έγγραφα του χρήστη. [Σ / Λ]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A65896A-24E7-6815-C4CA-35398A2FF3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7338" y="1053548"/>
            <a:ext cx="9217324" cy="3499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464413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1B9C94A-7293-875C-6ECC-27778FAE90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111" y="1431234"/>
            <a:ext cx="10467778" cy="3419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800139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3FF0E91-EA21-75A5-B727-BED557BCBA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414" y="1815253"/>
            <a:ext cx="11543171" cy="3227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24523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5A1F567-CF33-0D18-CADB-9EB876B825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5537" y="1490870"/>
            <a:ext cx="8860925" cy="3584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209040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43163CA-39A4-F6DA-6D9F-F1D3D52498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633" y="1470990"/>
            <a:ext cx="10448348" cy="37371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682533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F88AD77-F4A9-EF54-C7D4-45BF250806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9428" y="1391478"/>
            <a:ext cx="10532683" cy="34574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649081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25B69D9-8839-4404-F871-DEA0096A09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683" y="1172805"/>
            <a:ext cx="10194634" cy="3850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335645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C0E4328-DF33-4DD8-6713-DBB81D196E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6861" y="334288"/>
            <a:ext cx="9114310" cy="53116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9963AB4-09FD-CFFC-370C-D241E075BAD2}"/>
              </a:ext>
            </a:extLst>
          </p:cNvPr>
          <p:cNvSpPr txBox="1"/>
          <p:nvPr/>
        </p:nvSpPr>
        <p:spPr>
          <a:xfrm>
            <a:off x="2999232" y="5678892"/>
            <a:ext cx="21502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dirty="0"/>
              <a:t>1Ε, 2Γ, 3Β, 4Α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03049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49789AC-68CB-9ECF-7DF5-CF2F2B32BB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226" y="285477"/>
            <a:ext cx="8626588" cy="628704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9D00BD3-2C3B-DE49-66D1-939B0EEF1789}"/>
              </a:ext>
            </a:extLst>
          </p:cNvPr>
          <p:cNvSpPr txBox="1"/>
          <p:nvPr/>
        </p:nvSpPr>
        <p:spPr>
          <a:xfrm>
            <a:off x="10250905" y="2213811"/>
            <a:ext cx="518091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dirty="0"/>
              <a:t>1Σ, </a:t>
            </a:r>
          </a:p>
          <a:p>
            <a:r>
              <a:rPr lang="el-GR" dirty="0"/>
              <a:t>2Λ</a:t>
            </a:r>
          </a:p>
          <a:p>
            <a:r>
              <a:rPr lang="el-GR" dirty="0"/>
              <a:t>3Σ</a:t>
            </a:r>
          </a:p>
          <a:p>
            <a:r>
              <a:rPr lang="el-GR" dirty="0"/>
              <a:t>4Σ</a:t>
            </a:r>
          </a:p>
          <a:p>
            <a:r>
              <a:rPr lang="el-GR" dirty="0"/>
              <a:t>5Σ</a:t>
            </a:r>
          </a:p>
          <a:p>
            <a:r>
              <a:rPr lang="el-GR" dirty="0"/>
              <a:t>6Σ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60227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59</TotalTime>
  <Words>1625</Words>
  <Application>Microsoft Office PowerPoint</Application>
  <PresentationFormat>Widescreen</PresentationFormat>
  <Paragraphs>131</Paragraphs>
  <Slides>30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Michail Vlachos</cp:lastModifiedBy>
  <cp:revision>22</cp:revision>
  <dcterms:created xsi:type="dcterms:W3CDTF">2013-01-27T09:14:16Z</dcterms:created>
  <dcterms:modified xsi:type="dcterms:W3CDTF">2026-10-08T19:01:04Z</dcterms:modified>
  <cp:category/>
</cp:coreProperties>
</file>