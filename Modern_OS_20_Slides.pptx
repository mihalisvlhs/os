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7" r:id="rId17"/>
    <p:sldId id="270" r:id="rId18"/>
    <p:sldId id="271" r:id="rId19"/>
    <p:sldId id="272" r:id="rId20"/>
    <p:sldId id="273" r:id="rId21"/>
    <p:sldId id="274" r:id="rId22"/>
    <p:sldId id="278" r:id="rId23"/>
    <p:sldId id="287" r:id="rId24"/>
    <p:sldId id="279" r:id="rId25"/>
    <p:sldId id="288" r:id="rId26"/>
    <p:sldId id="280" r:id="rId27"/>
    <p:sldId id="289" r:id="rId28"/>
    <p:sldId id="281" r:id="rId29"/>
    <p:sldId id="290" r:id="rId30"/>
    <p:sldId id="282" r:id="rId31"/>
    <p:sldId id="291" r:id="rId32"/>
    <p:sldId id="283" r:id="rId33"/>
    <p:sldId id="292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01" y="2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8FAFC"/>
                </a:solidFill>
              </a:defRPr>
            </a:pPr>
            <a:r>
              <a:t>Σύγχρονα Λειτουργικά Συστήματα</a:t>
            </a:r>
          </a:p>
          <a:p>
            <a:pPr algn="ctr">
              <a:defRPr sz="2000">
                <a:solidFill>
                  <a:srgbClr val="94A3B8"/>
                </a:solidFill>
              </a:defRPr>
            </a:pPr>
            <a:r>
              <a:t>Εισαγωγικό Εγχειρίδιο 4 Ωρών: Θεωρία, Δομή, Διεργασίες, Συστήματα Αρχείων &amp; 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Δομή &amp; Χρονοδιάγραμμα 4ώρου Μαθήματος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ΕΙΣΑΓΩΓΉ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sz="2000" dirty="0"/>
              <a:t>• 1η </a:t>
            </a:r>
            <a:r>
              <a:rPr sz="2000" dirty="0" err="1"/>
              <a:t>Ώρ</a:t>
            </a:r>
            <a:r>
              <a:rPr sz="2000" dirty="0"/>
              <a:t>α: Έννοια Λ.Σ., Λογισμικό Συστήματος vs Εφαρμογών, Δομή &amp; Ιστορική Εξέλιξη.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sz="2000" dirty="0"/>
              <a:t>• 2η </a:t>
            </a:r>
            <a:r>
              <a:rPr sz="2000" dirty="0" err="1"/>
              <a:t>Ώρ</a:t>
            </a:r>
            <a:r>
              <a:rPr sz="2000" dirty="0"/>
              <a:t>α: Αρμοδιότητες, Διαχείριση Πόρων, Κλήσεις Συστήματος (System Calls) &amp; Διακοπές.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sz="2000" dirty="0"/>
              <a:t>• 3η </a:t>
            </a:r>
            <a:r>
              <a:rPr sz="2000" dirty="0" err="1"/>
              <a:t>Ώρ</a:t>
            </a:r>
            <a:r>
              <a:rPr sz="2000" dirty="0"/>
              <a:t>α: Διεργασίες, Υπηρεσίες, Παρασκήνιο/Προσκήνιο και Εποπτεία μέσω Task Manager.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rPr sz="2000" dirty="0"/>
              <a:t>• 4η </a:t>
            </a:r>
            <a:r>
              <a:rPr sz="2000" dirty="0" err="1"/>
              <a:t>Ώρ</a:t>
            </a:r>
            <a:r>
              <a:rPr sz="2000" dirty="0"/>
              <a:t>α: Συστήματα Αρχείων (FAT32 vs NTFS), Ιδιότητες, CHKDSK και Quiz Αυτοαξιολόγησης.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Τι είναι το Λειτουργικό Σύστημα (Λ.Σ.);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1Η ΏΡΑ: ΘΕΜΈΛΙΑ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Ορισμός</a:t>
            </a:r>
            <a:r>
              <a:rPr sz="2000" dirty="0"/>
              <a:t>: </a:t>
            </a:r>
            <a:r>
              <a:rPr sz="2000" dirty="0" err="1"/>
              <a:t>Συλλογή</a:t>
            </a:r>
            <a:r>
              <a:rPr sz="2000" dirty="0"/>
              <a:t> βα</a:t>
            </a:r>
            <a:r>
              <a:rPr sz="2000" dirty="0" err="1"/>
              <a:t>σικών</a:t>
            </a:r>
            <a:r>
              <a:rPr sz="2000" dirty="0"/>
              <a:t> π</a:t>
            </a:r>
            <a:r>
              <a:rPr sz="2000" dirty="0" err="1"/>
              <a:t>ρογρ</a:t>
            </a:r>
            <a:r>
              <a:rPr sz="2000" dirty="0"/>
              <a:t>αμμάτων που ελέγχει συνολικά τη λειτουργία του υπολογιστή.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Συνδετικός</a:t>
            </a:r>
            <a:r>
              <a:rPr sz="2000" dirty="0"/>
              <a:t> </a:t>
            </a:r>
            <a:r>
              <a:rPr sz="2000" dirty="0" err="1"/>
              <a:t>Κρίκος</a:t>
            </a:r>
            <a:r>
              <a:rPr sz="2000" dirty="0"/>
              <a:t>: </a:t>
            </a:r>
            <a:r>
              <a:rPr sz="2000" dirty="0" err="1"/>
              <a:t>Λειτουργεί</a:t>
            </a:r>
            <a:r>
              <a:rPr sz="2000" dirty="0"/>
              <a:t> </a:t>
            </a:r>
            <a:r>
              <a:rPr sz="2000" dirty="0" err="1"/>
              <a:t>ως</a:t>
            </a:r>
            <a:r>
              <a:rPr sz="2000" dirty="0"/>
              <a:t> </a:t>
            </a:r>
            <a:r>
              <a:rPr sz="2000" dirty="0" err="1"/>
              <a:t>γέφυρ</a:t>
            </a:r>
            <a:r>
              <a:rPr sz="2000" dirty="0"/>
              <a:t>α ανάμεσα στον χρήστη, τις εφαρμογές και το υλικό.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rPr sz="2000" dirty="0"/>
              <a:t>• Υπόβα</a:t>
            </a:r>
            <a:r>
              <a:rPr sz="2000" dirty="0" err="1"/>
              <a:t>θρο</a:t>
            </a:r>
            <a:r>
              <a:rPr sz="2000" dirty="0"/>
              <a:t>: Απ</a:t>
            </a:r>
            <a:r>
              <a:rPr sz="2000" dirty="0" err="1"/>
              <a:t>οτελεί</a:t>
            </a:r>
            <a:r>
              <a:rPr sz="2000" dirty="0"/>
              <a:t> </a:t>
            </a:r>
            <a:r>
              <a:rPr sz="2000" dirty="0" err="1"/>
              <a:t>το</a:t>
            </a:r>
            <a:r>
              <a:rPr sz="2000" dirty="0"/>
              <a:t> απαρα</a:t>
            </a:r>
            <a:r>
              <a:rPr sz="2000" dirty="0" err="1"/>
              <a:t>ίτητο</a:t>
            </a:r>
            <a:r>
              <a:rPr sz="2000" dirty="0"/>
              <a:t> υπόβα</a:t>
            </a:r>
            <a:r>
              <a:rPr sz="2000" dirty="0" err="1"/>
              <a:t>θρο</a:t>
            </a:r>
            <a:r>
              <a:rPr sz="2000" dirty="0"/>
              <a:t> π</a:t>
            </a:r>
            <a:r>
              <a:rPr sz="2000" dirty="0" err="1"/>
              <a:t>άνω</a:t>
            </a:r>
            <a:r>
              <a:rPr sz="2000" dirty="0"/>
              <a:t> </a:t>
            </a:r>
            <a:r>
              <a:rPr sz="2000" dirty="0" err="1"/>
              <a:t>στο</a:t>
            </a:r>
            <a:r>
              <a:rPr sz="2000" dirty="0"/>
              <a:t> οπ</a:t>
            </a:r>
            <a:r>
              <a:rPr sz="2000" dirty="0" err="1"/>
              <a:t>οίο</a:t>
            </a:r>
            <a:r>
              <a:rPr sz="2000" dirty="0"/>
              <a:t> </a:t>
            </a:r>
            <a:r>
              <a:rPr sz="2000" dirty="0" err="1"/>
              <a:t>εκτελούντ</a:t>
            </a:r>
            <a:r>
              <a:rPr sz="2000" dirty="0"/>
              <a:t>αι όλες οι εφαρμογές.</a:t>
            </a:r>
          </a:p>
          <a:p>
            <a:pPr>
              <a:spcAft>
                <a:spcPts val="1000"/>
              </a:spcAft>
              <a:defRPr sz="1600">
                <a:solidFill>
                  <a:srgbClr val="0F172A"/>
                </a:solidFill>
              </a:defRPr>
            </a:pPr>
            <a:r>
              <a:rPr sz="2000" dirty="0"/>
              <a:t>• Χα</a:t>
            </a:r>
            <a:r>
              <a:rPr sz="2000" dirty="0" err="1"/>
              <a:t>μηλού</a:t>
            </a:r>
            <a:r>
              <a:rPr sz="2000" dirty="0"/>
              <a:t> Επιπ</a:t>
            </a:r>
            <a:r>
              <a:rPr sz="2000" dirty="0" err="1"/>
              <a:t>έδου</a:t>
            </a:r>
            <a:r>
              <a:rPr sz="2000" dirty="0"/>
              <a:t>: </a:t>
            </a:r>
            <a:r>
              <a:rPr sz="2000" dirty="0" err="1"/>
              <a:t>Περιέχει</a:t>
            </a:r>
            <a:r>
              <a:rPr sz="2000" dirty="0"/>
              <a:t> </a:t>
            </a:r>
            <a:r>
              <a:rPr sz="2000" dirty="0" err="1"/>
              <a:t>κώδικ</a:t>
            </a:r>
            <a:r>
              <a:rPr sz="2000" dirty="0"/>
              <a:t>α προσαρμοσμένο στην αρχιτεκτονική της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Η Θέση του Λ.Σ. στο Υπολογιστικό Σύστημα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1Η ΏΡΑ: ΑΡΧΙΤΕΚΤΟΝΙΚΉ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463040"/>
            <a:ext cx="576072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Επίπ</a:t>
            </a:r>
            <a:r>
              <a:rPr sz="2000" dirty="0" err="1"/>
              <a:t>εδο</a:t>
            </a:r>
            <a:r>
              <a:rPr sz="2000" dirty="0"/>
              <a:t> 1 - </a:t>
            </a:r>
            <a:r>
              <a:rPr sz="2000" dirty="0" err="1"/>
              <a:t>Χρήστης</a:t>
            </a:r>
            <a:r>
              <a:rPr sz="2000" dirty="0"/>
              <a:t>: </a:t>
            </a:r>
            <a:r>
              <a:rPr sz="2000" dirty="0" err="1"/>
              <a:t>Αλληλε</a:t>
            </a:r>
            <a:r>
              <a:rPr sz="2000" dirty="0"/>
              <a:t>πιδρά με το σύστημα μέσω περιβάλλοντος εργασίας.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Επίπ</a:t>
            </a:r>
            <a:r>
              <a:rPr sz="2000" dirty="0" err="1"/>
              <a:t>εδο</a:t>
            </a:r>
            <a:r>
              <a:rPr sz="2000" dirty="0"/>
              <a:t> 2 - </a:t>
            </a:r>
            <a:r>
              <a:rPr sz="2000" dirty="0" err="1"/>
              <a:t>Εφ</a:t>
            </a:r>
            <a:r>
              <a:rPr sz="2000" dirty="0"/>
              <a:t>αρμογές: Προγράμματα που εξυπηρετούν ανάγκες (Word, Chrome κτλ.).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Επίπ</a:t>
            </a:r>
            <a:r>
              <a:rPr sz="2000" dirty="0" err="1"/>
              <a:t>εδο</a:t>
            </a:r>
            <a:r>
              <a:rPr sz="2000" dirty="0"/>
              <a:t> 3 - </a:t>
            </a:r>
            <a:r>
              <a:rPr sz="2000" dirty="0" err="1"/>
              <a:t>Λειτουργικό</a:t>
            </a:r>
            <a:r>
              <a:rPr sz="2000" dirty="0"/>
              <a:t> </a:t>
            </a:r>
            <a:r>
              <a:rPr sz="2000" dirty="0" err="1"/>
              <a:t>Σύστημ</a:t>
            </a:r>
            <a:r>
              <a:rPr sz="2000" dirty="0"/>
              <a:t>α: Ελέγχει και διαμοιράζει τους πόρους.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Επίπ</a:t>
            </a:r>
            <a:r>
              <a:rPr sz="2000" dirty="0" err="1"/>
              <a:t>εδο</a:t>
            </a:r>
            <a:r>
              <a:rPr sz="2000" dirty="0"/>
              <a:t> 4 - </a:t>
            </a:r>
            <a:r>
              <a:rPr sz="2000" dirty="0" err="1"/>
              <a:t>Υλικό</a:t>
            </a:r>
            <a:r>
              <a:rPr sz="2000" dirty="0"/>
              <a:t>: CPU, </a:t>
            </a:r>
            <a:r>
              <a:rPr sz="2000" dirty="0" err="1"/>
              <a:t>μνήμη</a:t>
            </a:r>
            <a:r>
              <a:rPr sz="2000" dirty="0"/>
              <a:t>, </a:t>
            </a:r>
            <a:r>
              <a:rPr sz="2000" dirty="0" err="1"/>
              <a:t>σκληροί</a:t>
            </a:r>
            <a:r>
              <a:rPr sz="2000" dirty="0"/>
              <a:t> </a:t>
            </a:r>
            <a:r>
              <a:rPr sz="2000" dirty="0" err="1"/>
              <a:t>δίσκοι</a:t>
            </a:r>
            <a:r>
              <a:rPr sz="2000" dirty="0"/>
              <a:t>, </a:t>
            </a:r>
            <a:r>
              <a:rPr sz="2000" dirty="0" err="1"/>
              <a:t>κάρτες</a:t>
            </a:r>
            <a:r>
              <a:rPr sz="2000" dirty="0"/>
              <a:t> </a:t>
            </a:r>
            <a:r>
              <a:rPr sz="2000" dirty="0" err="1"/>
              <a:t>δικτύου</a:t>
            </a:r>
            <a:r>
              <a:rPr sz="2000" dirty="0"/>
              <a:t>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Σημείωση</a:t>
            </a:r>
            <a:r>
              <a:rPr sz="2000" dirty="0"/>
              <a:t>: </a:t>
            </a:r>
            <a:r>
              <a:rPr sz="2000" dirty="0" err="1"/>
              <a:t>Οι</a:t>
            </a:r>
            <a:r>
              <a:rPr sz="2000" dirty="0"/>
              <a:t> </a:t>
            </a:r>
            <a:r>
              <a:rPr sz="2000" dirty="0" err="1"/>
              <a:t>εφ</a:t>
            </a:r>
            <a:r>
              <a:rPr sz="2000" dirty="0"/>
              <a:t>αρμογές δεν μπορούν να προσπελάσουν το υλικό αυτόνομα.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CC0B32-1DEA-8702-684D-919DF7711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885" y="1463040"/>
            <a:ext cx="2381250" cy="3524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Δομή &amp; Βασικά Υποσυστήματα του Λ.Σ.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1Η ΏΡΑ: ΥΠΟΣΥΣΤΉΜΑΤΑ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463040"/>
            <a:ext cx="576072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Πυρήν</a:t>
            </a:r>
            <a:r>
              <a:rPr sz="2000" dirty="0"/>
              <a:t>ας (Kernel): Φορτώνεται πρώτος στη RAM και εκτελείται συνεχώς.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Σύστημ</a:t>
            </a:r>
            <a:r>
              <a:rPr sz="2000" dirty="0"/>
              <a:t>α Αρχείων: Οργανώνει, ονοματοδοτεί και αποθηκεύει τα δεδομένα.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Διε</a:t>
            </a:r>
            <a:r>
              <a:rPr sz="2000" dirty="0"/>
              <a:t>παφή Χρήστη (Φλοιός / Shell): Δέχεται εντολές μέσω GUI ή γραμμής εντολών (CLI).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Βοηθητικά</a:t>
            </a:r>
            <a:r>
              <a:rPr sz="2000" dirty="0"/>
              <a:t> </a:t>
            </a:r>
            <a:r>
              <a:rPr sz="2000" dirty="0" err="1"/>
              <a:t>Προγράμμ</a:t>
            </a:r>
            <a:r>
              <a:rPr sz="2000" dirty="0"/>
              <a:t>ατα (Utilities): Εργαλεία ελέγχου, συντήρησης και παραμετροποίησης.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7D33F1-86F7-4547-EB68-B28A9B5F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8" y="1448123"/>
            <a:ext cx="5306149" cy="5044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Ιστορική Εξέλιξη των Λειτουργικών Συστημάτων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1Η ΏΡΑ: ΙΣΤΟΡΊΑ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887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Πριν</a:t>
            </a:r>
            <a:r>
              <a:rPr sz="2000" dirty="0"/>
              <a:t> </a:t>
            </a:r>
            <a:r>
              <a:rPr sz="2000" dirty="0" err="1"/>
              <a:t>το</a:t>
            </a:r>
            <a:r>
              <a:rPr sz="2000" dirty="0"/>
              <a:t> 1970: </a:t>
            </a:r>
            <a:r>
              <a:rPr sz="2000" dirty="0" err="1"/>
              <a:t>Πρωτόγον</a:t>
            </a:r>
            <a:r>
              <a:rPr sz="2000" dirty="0"/>
              <a:t>α συστήματα, φτιαγμένα για έναν συγκεκριμένο υπολογιστή.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1969 - Unix (Bell Labs): Επα</a:t>
            </a:r>
            <a:r>
              <a:rPr sz="2000" dirty="0" err="1"/>
              <a:t>νάστ</a:t>
            </a:r>
            <a:r>
              <a:rPr sz="2000" dirty="0"/>
              <a:t>αση στον πολυπρογραμματισμό και τα ιεραρχικά αρχεία.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1981 - MS-DOS: </a:t>
            </a:r>
            <a:r>
              <a:rPr sz="2000" dirty="0" err="1"/>
              <a:t>Αν</a:t>
            </a:r>
            <a:r>
              <a:rPr sz="2000" dirty="0"/>
              <a:t>απτύχθηκε από τη Microsoft για τους πρώτους προσωπικούς υπολογιστές IBM.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1985 - Windows: </a:t>
            </a:r>
            <a:r>
              <a:rPr sz="2000" dirty="0" err="1"/>
              <a:t>Εισ</a:t>
            </a:r>
            <a:r>
              <a:rPr sz="2000" dirty="0"/>
              <a:t>αγωγή του γραφικού περιβάλλοντος (GUI) πάνω από το DOS.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1991 - Linux: </a:t>
            </a:r>
            <a:r>
              <a:rPr sz="2000" dirty="0" err="1"/>
              <a:t>Δημιουργήθηκε</a:t>
            </a:r>
            <a:r>
              <a:rPr sz="2000" dirty="0"/>
              <a:t> από </a:t>
            </a:r>
            <a:r>
              <a:rPr sz="2000" dirty="0" err="1"/>
              <a:t>τον</a:t>
            </a:r>
            <a:r>
              <a:rPr sz="2000" dirty="0"/>
              <a:t> Linus Torvalds </a:t>
            </a:r>
            <a:r>
              <a:rPr sz="2000" dirty="0" err="1"/>
              <a:t>ως</a:t>
            </a:r>
            <a:r>
              <a:rPr sz="2000" dirty="0"/>
              <a:t> α</a:t>
            </a:r>
            <a:r>
              <a:rPr sz="2000" dirty="0" err="1"/>
              <a:t>νοικτός</a:t>
            </a:r>
            <a:r>
              <a:rPr sz="2000" dirty="0"/>
              <a:t> </a:t>
            </a:r>
            <a:r>
              <a:rPr sz="2000" dirty="0" err="1"/>
              <a:t>κώδικ</a:t>
            </a:r>
            <a:r>
              <a:rPr sz="2000" dirty="0"/>
              <a:t>ας (Open Source).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Κινητά</a:t>
            </a:r>
            <a:r>
              <a:rPr sz="2000" dirty="0"/>
              <a:t> &amp; Cloud: Android (Google/Linux), iOS (Apple), Cloud computing.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Οι Κύριες Αρμοδιότητες ενός Λ.Σ.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2Η ΏΡΑ: ΑΡΜΟΔΙΌΤΗΤΕΣ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1. </a:t>
            </a:r>
            <a:r>
              <a:rPr sz="2000" dirty="0" err="1"/>
              <a:t>Διε</a:t>
            </a:r>
            <a:r>
              <a:rPr sz="2000" dirty="0"/>
              <a:t>παφή Μηχανής: Ενδιάμεσος επικοινωνίας ανθρώπου-υπολογιστή.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2. </a:t>
            </a:r>
            <a:r>
              <a:rPr sz="2000" dirty="0" err="1"/>
              <a:t>Δι</a:t>
            </a:r>
            <a:r>
              <a:rPr sz="2000" dirty="0"/>
              <a:t>αχείριση Κύριας Μνήμης (RAM): Κατανομή χώρου και μεταφορά προγραμμάτων.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3. </a:t>
            </a:r>
            <a:r>
              <a:rPr sz="2000" dirty="0" err="1"/>
              <a:t>Δι</a:t>
            </a:r>
            <a:r>
              <a:rPr sz="2000" dirty="0"/>
              <a:t>αχείριση ΚΜΕ (CPU): Προτεραιότητα και χρόνος εκτέλεσης διεργασιών.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4. </a:t>
            </a:r>
            <a:r>
              <a:rPr sz="2000" dirty="0" err="1"/>
              <a:t>Δι</a:t>
            </a:r>
            <a:r>
              <a:rPr sz="2000" dirty="0"/>
              <a:t>αχείριση Αρχείων: Δημιουργία, διαγραφή και οργάνωση σε σκληρούς δίσκους.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5. </a:t>
            </a:r>
            <a:r>
              <a:rPr sz="2000" dirty="0" err="1"/>
              <a:t>Δι</a:t>
            </a:r>
            <a:r>
              <a:rPr sz="2000" dirty="0"/>
              <a:t>αχείριση Συσκευών Εισόδου/Εξόδου: Έλεγχος πληκτρολογίου, οθόνης, εκτυπωτών.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6. </a:t>
            </a:r>
            <a:r>
              <a:rPr sz="2000" dirty="0" err="1"/>
              <a:t>Δι</a:t>
            </a:r>
            <a:r>
              <a:rPr sz="2000" dirty="0"/>
              <a:t>αχείριση Δικτύου: Σύνδεση με άλλους υπολογιστές και το Διαδίκτυο.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7. </a:t>
            </a:r>
            <a:r>
              <a:rPr sz="2000" dirty="0" err="1"/>
              <a:t>Δι</a:t>
            </a:r>
            <a:r>
              <a:rPr sz="2000" dirty="0"/>
              <a:t>αχείριση Ασφάλειας: Αυθεντικοποίηση χρηστών και δικαιώματα πρόσβασης.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Πόροι του Υπολογιστικού Συστήματος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2Η ΏΡΑ: ΔΙΑΧΕΊΡΙΣΗ ΠΌΡΩΝ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Ορισμός</a:t>
            </a:r>
            <a:r>
              <a:rPr sz="2000" dirty="0"/>
              <a:t> </a:t>
            </a:r>
            <a:r>
              <a:rPr sz="2000" dirty="0" err="1"/>
              <a:t>Πόρου</a:t>
            </a:r>
            <a:r>
              <a:rPr sz="2000" dirty="0"/>
              <a:t>: </a:t>
            </a:r>
            <a:r>
              <a:rPr sz="2000" dirty="0" err="1"/>
              <a:t>Οτιδή</a:t>
            </a:r>
            <a:r>
              <a:rPr sz="2000" dirty="0"/>
              <a:t>ποτε διαθέτει ο υπολογιστής για την εκτέλεση εργασιών.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Κεντρική</a:t>
            </a:r>
            <a:r>
              <a:rPr sz="2000" dirty="0"/>
              <a:t> </a:t>
            </a:r>
            <a:r>
              <a:rPr sz="2000" dirty="0" err="1"/>
              <a:t>Μονάδ</a:t>
            </a:r>
            <a:r>
              <a:rPr sz="2000" dirty="0"/>
              <a:t>α Επεξεργασίας (CPU): Ο βασικός επεξεργαστικός χρόνος.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Κύρι</a:t>
            </a:r>
            <a:r>
              <a:rPr sz="2000" dirty="0"/>
              <a:t>α Μνήμη (RAM): Περιορισμένη και ταχεία, φιλοξενεί τα ενεργά προγράμματα.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Δευτερεύουσ</a:t>
            </a:r>
            <a:r>
              <a:rPr sz="2000" dirty="0"/>
              <a:t>α Μνήμη (HDD/SSD): Μόνιμη αποθήκευση αρχείων και συστήματος.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Περιφερει</a:t>
            </a:r>
            <a:r>
              <a:rPr sz="2000" dirty="0"/>
              <a:t>ακά &amp; Δίκτυο: Συσκευές εισόδου/εξόδου, κάρτες και εύρος ζώνης δικτύου.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Συντονισμός</a:t>
            </a:r>
            <a:r>
              <a:rPr sz="2000" dirty="0"/>
              <a:t>: </a:t>
            </a:r>
            <a:r>
              <a:rPr sz="2000" dirty="0" err="1"/>
              <a:t>Το</a:t>
            </a:r>
            <a:r>
              <a:rPr sz="2000" dirty="0"/>
              <a:t> Λ.Σ. επ</a:t>
            </a:r>
            <a:r>
              <a:rPr sz="2000" dirty="0" err="1"/>
              <a:t>ιλύει</a:t>
            </a:r>
            <a:r>
              <a:rPr sz="2000" dirty="0"/>
              <a:t> </a:t>
            </a:r>
            <a:r>
              <a:rPr sz="2000" dirty="0" err="1"/>
              <a:t>διενέξεις</a:t>
            </a:r>
            <a:r>
              <a:rPr sz="2000" dirty="0"/>
              <a:t> </a:t>
            </a:r>
            <a:r>
              <a:rPr sz="2000" dirty="0" err="1"/>
              <a:t>ότ</a:t>
            </a:r>
            <a:r>
              <a:rPr sz="2000" dirty="0"/>
              <a:t>αν πολλαπλές εφαρμογές ζητούν τον ίδιο πόρο.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rPr lang="el-GR"/>
              <a:t>Επικοινωνία με το Υλικό: System Calls &amp; Interrupts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rPr lang="el-GR"/>
              <a:t>2Η ΏΡΑ: ΜΗΧΑΝΙΣΜΟΊ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16778" y="1463040"/>
            <a:ext cx="3513221" cy="4042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lang="el-GR" sz="2000" dirty="0"/>
              <a:t>• Κλήσεις Συστήματος (</a:t>
            </a:r>
            <a:r>
              <a:rPr lang="el-GR" sz="2000" dirty="0" err="1"/>
              <a:t>System</a:t>
            </a:r>
            <a:r>
              <a:rPr lang="el-GR" sz="2000" dirty="0"/>
              <a:t> </a:t>
            </a:r>
            <a:r>
              <a:rPr lang="el-GR" sz="2000" dirty="0" err="1"/>
              <a:t>Calls</a:t>
            </a:r>
            <a:r>
              <a:rPr lang="el-GR" sz="2000" dirty="0"/>
              <a:t>): Ο τρόπος με τον οποίο οι εφαρμογές ζητούν υπηρεσίες από τον πυρήνα.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lang="el-GR" sz="2000" dirty="0"/>
              <a:t>• Προστασία: Αποτρέπει τις εφαρμογές από το να αγγίζουν ανεξέλεγκτα το υλικό.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lang="el-GR" sz="2000" dirty="0"/>
              <a:t>• Διακοπές (</a:t>
            </a:r>
            <a:r>
              <a:rPr lang="el-GR" sz="2000" dirty="0" err="1"/>
              <a:t>Interrupts</a:t>
            </a:r>
            <a:r>
              <a:rPr lang="el-GR" sz="2000" dirty="0"/>
              <a:t>): Σήματα υλικού/λογισμικού που διακόπτουν προσωρινά την CPU για άμεση εξυπηρέτηση συμβάντων.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0F3042-6815-2BDF-D11F-994E2F3C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32" y="956798"/>
            <a:ext cx="7291136" cy="53357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Εφαρμογές, Διεργασίες και Υπηρεσίες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3Η ΏΡΑ: ΔΙΕΡΓΑΣΊΕΣ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Εφ</a:t>
            </a:r>
            <a:r>
              <a:rPr sz="2000" dirty="0"/>
              <a:t>αρμογή: Το πρόγραμμα αποθηκευμένο στο δίσκο με το οποίο αλληλεπιδρούμε.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Διεργ</a:t>
            </a:r>
            <a:r>
              <a:rPr sz="2000" dirty="0"/>
              <a:t>ασία (Process): Ένα στιγμιότυπο εκτέλεσης (instance) ενός προγράμματος στη μνήμη.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Πολλ</a:t>
            </a:r>
            <a:r>
              <a:rPr sz="2000" dirty="0"/>
              <a:t>απλές Διεργασίες: Μία εφαρμογή μπορεί να ανοίξει πολλές διεργασίες (π.χ. κα</a:t>
            </a:r>
            <a:r>
              <a:rPr sz="2000" dirty="0" err="1"/>
              <a:t>ρτέλες</a:t>
            </a:r>
            <a:r>
              <a:rPr sz="2000" dirty="0"/>
              <a:t> Chrome).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PID (Process ID): </a:t>
            </a:r>
            <a:r>
              <a:rPr sz="2000" dirty="0" err="1"/>
              <a:t>Μον</a:t>
            </a:r>
            <a:r>
              <a:rPr sz="2000" dirty="0"/>
              <a:t>αδικός αριθμός αναγνώρισης κάθε διεργασίας από το Λ.Σ.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Υπ</a:t>
            </a:r>
            <a:r>
              <a:rPr sz="2000" dirty="0" err="1"/>
              <a:t>ηρεσίες</a:t>
            </a:r>
            <a:r>
              <a:rPr sz="2000" dirty="0"/>
              <a:t> (Services): </a:t>
            </a:r>
            <a:r>
              <a:rPr sz="2000" dirty="0" err="1"/>
              <a:t>Διεργ</a:t>
            </a:r>
            <a:r>
              <a:rPr sz="2000" dirty="0"/>
              <a:t>ασίες παρασκηνίου που εκτελούνται αυτόνομα (π.χ. svchost.exe).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Εκτέλεση στο Προσκήνιο και στο Παρασκήνιο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3Η ΏΡΑ: ΚΑΤΗΓΟΡΊΕΣ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Προσκήνιο</a:t>
            </a:r>
            <a:r>
              <a:rPr sz="2000" dirty="0"/>
              <a:t> (Foreground): </a:t>
            </a:r>
            <a:r>
              <a:rPr sz="2000" dirty="0" err="1"/>
              <a:t>Διεργ</a:t>
            </a:r>
            <a:r>
              <a:rPr sz="2000" dirty="0"/>
              <a:t>ασίες εφαρμογών με τις οποίες αλληλεπιδρά ο χρήστης άμεσα και εμφανίζονται σε παράθυρα.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Παρα</a:t>
            </a:r>
            <a:r>
              <a:rPr sz="2000" dirty="0" err="1"/>
              <a:t>σκήνιο</a:t>
            </a:r>
            <a:r>
              <a:rPr sz="2000" dirty="0"/>
              <a:t> (Background): </a:t>
            </a:r>
            <a:r>
              <a:rPr sz="2000" dirty="0" err="1"/>
              <a:t>Διεργ</a:t>
            </a:r>
            <a:r>
              <a:rPr sz="2000" dirty="0"/>
              <a:t>ασίες που τρέχουν σιωπηλά χωρίς να έχουν ανοικτό παράθυρο στην οθόνη.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Διεργ</a:t>
            </a:r>
            <a:r>
              <a:rPr sz="2000" dirty="0"/>
              <a:t>ασίες Συστήματος (Windows Processes): Ζωτικές για την ομαλή λειτουργία του λειτουργικού.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Κίνδυνος</a:t>
            </a:r>
            <a:r>
              <a:rPr sz="2000" dirty="0"/>
              <a:t>: Ο </a:t>
            </a:r>
            <a:r>
              <a:rPr sz="2000" dirty="0" err="1"/>
              <a:t>τερμ</a:t>
            </a:r>
            <a:r>
              <a:rPr sz="2000" dirty="0"/>
              <a:t>ατισμός ζωτικών διεργασιών μπορεί να προκαλέσει αστάθεια ή κατάρρευση.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Διαχείριση Εργασιών στα Windows (Task Manager)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3Η ΏΡΑ: ΕΠΟΠΤΕΊΑ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463040"/>
            <a:ext cx="493776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Άνοιγμ</a:t>
            </a:r>
            <a:r>
              <a:rPr sz="2000" dirty="0"/>
              <a:t>α: Δεξί κλικ στη γραμμή εργασιών ή με τη συντόμευση Ctrl + Shift + Esc.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Στήλες</a:t>
            </a:r>
            <a:r>
              <a:rPr sz="2000" dirty="0"/>
              <a:t> </a:t>
            </a:r>
            <a:r>
              <a:rPr sz="2000" dirty="0" err="1"/>
              <a:t>Πόρων</a:t>
            </a:r>
            <a:r>
              <a:rPr sz="2000" dirty="0"/>
              <a:t>: </a:t>
            </a:r>
            <a:r>
              <a:rPr sz="2000" dirty="0" err="1"/>
              <a:t>Εμφ</a:t>
            </a:r>
            <a:r>
              <a:rPr sz="2000" dirty="0"/>
              <a:t>ανίζει κατανάλωση CPU, Μνήμης, Δίσκου, Δικτύου.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Τα</a:t>
            </a:r>
            <a:r>
              <a:rPr sz="2000" dirty="0" err="1"/>
              <a:t>ξινόμηση</a:t>
            </a:r>
            <a:r>
              <a:rPr sz="2000" dirty="0"/>
              <a:t>: </a:t>
            </a:r>
            <a:r>
              <a:rPr sz="2000" dirty="0" err="1"/>
              <a:t>Με</a:t>
            </a:r>
            <a:r>
              <a:rPr sz="2000" dirty="0"/>
              <a:t> </a:t>
            </a:r>
            <a:r>
              <a:rPr sz="2000" dirty="0" err="1"/>
              <a:t>κλικ</a:t>
            </a:r>
            <a:r>
              <a:rPr sz="2000" dirty="0"/>
              <a:t> </a:t>
            </a:r>
            <a:r>
              <a:rPr sz="2000" dirty="0" err="1"/>
              <a:t>στην</a:t>
            </a:r>
            <a:r>
              <a:rPr sz="2000" dirty="0"/>
              <a:t> </a:t>
            </a:r>
            <a:r>
              <a:rPr sz="2000" dirty="0" err="1"/>
              <a:t>κεφ</a:t>
            </a:r>
            <a:r>
              <a:rPr sz="2000" dirty="0"/>
              <a:t>αλίδα εντοπίζουμε ποια διεργασία απασχολεί περισσότερο το σύστημα.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Τερμ</a:t>
            </a:r>
            <a:r>
              <a:rPr sz="2000" dirty="0"/>
              <a:t>ατισμός (Kill): Κουμπί 'Τέλος Εργασίας' (End Task) για παγωμένες εφαρμογές.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8C6640-3169-B564-E005-74C8D58E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97" y="1679868"/>
            <a:ext cx="5711903" cy="34982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Αναλυτική Επισκόπηση Καρτελών Task Manager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3Η ΏΡΑ: ΕΡΓΑΛΕΊΑ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19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Διεργ</a:t>
            </a:r>
            <a:r>
              <a:rPr sz="2000" dirty="0"/>
              <a:t>ασίες (Processes): Εφαρμογές προσκηνίου, διεργασίες παρασκηνίου και Windows.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Επ</a:t>
            </a:r>
            <a:r>
              <a:rPr sz="2000" dirty="0" err="1"/>
              <a:t>ιδόσεις</a:t>
            </a:r>
            <a:r>
              <a:rPr sz="2000" dirty="0"/>
              <a:t> (Performance): </a:t>
            </a:r>
            <a:r>
              <a:rPr sz="2000" dirty="0" err="1"/>
              <a:t>Γρ</a:t>
            </a:r>
            <a:r>
              <a:rPr sz="2000" dirty="0"/>
              <a:t>αφήματα πραγματικού χρόνου για CPU, RAM, Δίσκους και Ethernet/Wi-Fi.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Ιστορικό</a:t>
            </a:r>
            <a:r>
              <a:rPr sz="2000" dirty="0"/>
              <a:t> </a:t>
            </a:r>
            <a:r>
              <a:rPr sz="2000" dirty="0" err="1"/>
              <a:t>Εφ</a:t>
            </a:r>
            <a:r>
              <a:rPr sz="2000" dirty="0"/>
              <a:t>αρμογών (App History): Χρήση πόρων διαχρονικά ανά εφαρμογή.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Εκκίνηση</a:t>
            </a:r>
            <a:r>
              <a:rPr sz="2000" dirty="0"/>
              <a:t> (Startup): </a:t>
            </a:r>
            <a:r>
              <a:rPr sz="2000" dirty="0" err="1"/>
              <a:t>Προγράμμ</a:t>
            </a:r>
            <a:r>
              <a:rPr sz="2000" dirty="0"/>
              <a:t>ατα που εκκινούν αυτόματα με τα Windows και η επίπτωσή τους.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Λε</a:t>
            </a:r>
            <a:r>
              <a:rPr sz="2000" dirty="0"/>
              <a:t>πτομέρειες (Details): Εμφάνιση του PID, κατάστασης (Running/Suspended) και χρήστη κατόχου.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Υπ</a:t>
            </a:r>
            <a:r>
              <a:rPr sz="2000" dirty="0" err="1"/>
              <a:t>ηρεσίες</a:t>
            </a:r>
            <a:r>
              <a:rPr sz="2000" dirty="0"/>
              <a:t> (Services): </a:t>
            </a:r>
            <a:r>
              <a:rPr sz="2000" dirty="0" err="1"/>
              <a:t>Πλήρης</a:t>
            </a:r>
            <a:r>
              <a:rPr sz="2000" dirty="0"/>
              <a:t> </a:t>
            </a:r>
            <a:r>
              <a:rPr sz="2000" dirty="0" err="1"/>
              <a:t>λίστ</a:t>
            </a:r>
            <a:r>
              <a:rPr sz="2000" dirty="0"/>
              <a:t>α υπηρεσιών, κατάσταση (Started/Stopped) και PID.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Συστήματα Αρχείων: FAT32 vs NTFS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4Η ΏΡΑ: ΑΠΟΘΉΚΕΥΣΗ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Σύστημ</a:t>
            </a:r>
            <a:r>
              <a:rPr sz="2000" dirty="0"/>
              <a:t>α Αρχείων: Μέθοδος οργάνωσης, αποθήκευσης και ανάκτησης αρχείων σε μπλοκ (blocks) και συμπλέγματα (clusters).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Σύστημ</a:t>
            </a:r>
            <a:r>
              <a:rPr sz="2000" dirty="0"/>
              <a:t>α FAT32: Παλαιότερο πρότυπο MS-DOS/Windows. Βα</a:t>
            </a:r>
            <a:r>
              <a:rPr sz="2000" dirty="0" err="1"/>
              <a:t>σικό</a:t>
            </a:r>
            <a:r>
              <a:rPr sz="2000" dirty="0"/>
              <a:t> </a:t>
            </a:r>
            <a:r>
              <a:rPr sz="2000" dirty="0" err="1"/>
              <a:t>μειονέκτημ</a:t>
            </a:r>
            <a:r>
              <a:rPr sz="2000" dirty="0"/>
              <a:t>α: μέγιστο μέγεθος αρχείου μόλις 4 GB.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Σύστημ</a:t>
            </a:r>
            <a:r>
              <a:rPr sz="2000" dirty="0"/>
              <a:t>α NTFS: Σύγχρονο πρότυπο Windows. Υπ</a:t>
            </a:r>
            <a:r>
              <a:rPr sz="2000" dirty="0" err="1"/>
              <a:t>οστηρίζει</a:t>
            </a:r>
            <a:r>
              <a:rPr sz="2000" dirty="0"/>
              <a:t> </a:t>
            </a:r>
            <a:r>
              <a:rPr sz="2000" dirty="0" err="1"/>
              <a:t>τεράστι</a:t>
            </a:r>
            <a:r>
              <a:rPr sz="2000" dirty="0"/>
              <a:t>α αρχεία (έως 8 PB) και πίνακα MFT (Master File Table).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Ασφάλει</a:t>
            </a:r>
            <a:r>
              <a:rPr sz="2000" dirty="0"/>
              <a:t>α NTFS: Λίστες ελέγχου πρόσβασης (ACL) για δικαιώματα χρήστη (Read, Write, Execute).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Ακερ</a:t>
            </a:r>
            <a:r>
              <a:rPr sz="2000" dirty="0"/>
              <a:t>αιότητα: Καταγραφή ενεργειών (Journaling) για αυτόματη ανάκαμψη μετά από αστοχία.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AD107-1461-2016-9438-E2CA7CBDF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67" y="273547"/>
            <a:ext cx="10605419" cy="58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391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F3B30-F5EB-4CE2-5218-B995ED795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461" y="430582"/>
            <a:ext cx="7695308" cy="599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98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Ιδιότητες Αρχείων &amp; Μονάδων Δίσκου στα Windows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4Η ΏΡΑ: ΙΔΙΌΤΗΤΕΣ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880" y="1920240"/>
            <a:ext cx="521208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Προ</a:t>
            </a:r>
            <a:r>
              <a:rPr sz="2000" dirty="0"/>
              <a:t>βολή Ιδιοτήτων: Δεξί κλικ στη μονάδα δίσκου ή αρχείο -&gt; Επιλογή 'Ιδιότητες'.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Σύστημ</a:t>
            </a:r>
            <a:r>
              <a:rPr sz="2000" dirty="0"/>
              <a:t>α Αρχείων: Εμφανίζει αν ο δίσκος είναι διαμορφωμένος σε NTFS ή FAT.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Χώρος</a:t>
            </a:r>
            <a:r>
              <a:rPr sz="2000" dirty="0"/>
              <a:t>: </a:t>
            </a:r>
            <a:r>
              <a:rPr sz="2000" dirty="0" err="1"/>
              <a:t>Δεσμευμένος</a:t>
            </a:r>
            <a:r>
              <a:rPr sz="2000" dirty="0"/>
              <a:t> </a:t>
            </a:r>
            <a:r>
              <a:rPr sz="2000" dirty="0" err="1"/>
              <a:t>χώρος</a:t>
            </a:r>
            <a:r>
              <a:rPr sz="2000" dirty="0"/>
              <a:t> vs </a:t>
            </a:r>
            <a:r>
              <a:rPr sz="2000" dirty="0" err="1"/>
              <a:t>Ελεύθερος</a:t>
            </a:r>
            <a:r>
              <a:rPr sz="2000" dirty="0"/>
              <a:t> </a:t>
            </a:r>
            <a:r>
              <a:rPr sz="2000" dirty="0" err="1"/>
              <a:t>χώρος</a:t>
            </a:r>
            <a:r>
              <a:rPr sz="2000" dirty="0"/>
              <a:t> </a:t>
            </a:r>
            <a:r>
              <a:rPr sz="2000" dirty="0" err="1"/>
              <a:t>σε</a:t>
            </a:r>
            <a:r>
              <a:rPr sz="2000" dirty="0"/>
              <a:t> Bytes και GB.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Χαρα</a:t>
            </a:r>
            <a:r>
              <a:rPr sz="2000" dirty="0" err="1"/>
              <a:t>κτηριστικά</a:t>
            </a:r>
            <a:r>
              <a:rPr sz="2000" dirty="0"/>
              <a:t>: Επ</a:t>
            </a:r>
            <a:r>
              <a:rPr sz="2000" dirty="0" err="1"/>
              <a:t>ιλογές</a:t>
            </a:r>
            <a:r>
              <a:rPr sz="2000" dirty="0"/>
              <a:t> </a:t>
            </a:r>
            <a:r>
              <a:rPr sz="2000" dirty="0" err="1"/>
              <a:t>συμ</a:t>
            </a:r>
            <a:r>
              <a:rPr sz="2000" dirty="0"/>
              <a:t>πίεσης δίσκου και δημιουργίας ευρετηρίου.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Είδη, Επεκτάσεις και Προεπιλεγμένες Εφαρμογές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4Η ΏΡΑ: ΑΡΧΕΊΑ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5687" y="1741335"/>
            <a:ext cx="397565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Επ</a:t>
            </a:r>
            <a:r>
              <a:rPr dirty="0" err="1"/>
              <a:t>έκτ</a:t>
            </a:r>
            <a:r>
              <a:rPr dirty="0"/>
              <a:t>αση Αρχείου (Extension): Οι χαρακτήρες μετά την τελεία (π.χ. .txt, .docx, .pdf, .exe).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Σύνδεση</a:t>
            </a:r>
            <a:r>
              <a:rPr dirty="0"/>
              <a:t>: Η επ</a:t>
            </a:r>
            <a:r>
              <a:rPr dirty="0" err="1"/>
              <a:t>έκτ</a:t>
            </a:r>
            <a:r>
              <a:rPr dirty="0"/>
              <a:t>αση δηλώνει στο Λ.Σ. π</a:t>
            </a:r>
            <a:r>
              <a:rPr dirty="0" err="1"/>
              <a:t>οι</a:t>
            </a:r>
            <a:r>
              <a:rPr dirty="0"/>
              <a:t>α εφαρμογή μπορεί να ανοίξει και να διαχειριστεί το αρχείο.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</a:t>
            </a:r>
            <a:r>
              <a:rPr dirty="0" err="1"/>
              <a:t>Προε</a:t>
            </a:r>
            <a:r>
              <a:rPr dirty="0"/>
              <a:t>πιλεγμένες Εφαρμογές: Το Λ.Σ. </a:t>
            </a:r>
            <a:r>
              <a:rPr dirty="0" err="1"/>
              <a:t>δι</a:t>
            </a:r>
            <a:r>
              <a:rPr dirty="0"/>
              <a:t>ατηρεί πίνακα αντιστοίχισης τύπων αρχείων με συγκεκριμένα προγράμματα.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dirty="0"/>
              <a:t>• Βα</a:t>
            </a:r>
            <a:r>
              <a:rPr dirty="0" err="1"/>
              <a:t>σικές</a:t>
            </a:r>
            <a:r>
              <a:rPr dirty="0"/>
              <a:t> </a:t>
            </a:r>
            <a:r>
              <a:rPr dirty="0" err="1"/>
              <a:t>Ιδιότητες</a:t>
            </a:r>
            <a:r>
              <a:rPr dirty="0"/>
              <a:t>: </a:t>
            </a:r>
            <a:r>
              <a:rPr dirty="0" err="1"/>
              <a:t>Όνομ</a:t>
            </a:r>
            <a:r>
              <a:rPr dirty="0"/>
              <a:t>α, Θέση (Απόλυτη διαδρομή), Μέγεθος, Ημερομηνίες (Δημιουργίας, Τροποποίησης, Προσπέλασης).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03BE1-38DF-4F9F-584C-15956052B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567291" cy="45342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Έλεγχος &amp; Επιδιόρθωση Δίσκου με CHKDSK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4Η ΏΡΑ: ΣΥΝΤΉΡΗΣΗ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1739" y="1681701"/>
            <a:ext cx="502920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Εργ</a:t>
            </a:r>
            <a:r>
              <a:rPr sz="2000" dirty="0"/>
              <a:t>αλείο CHKDSK: Σαρώνει και επιδιορθώνει σφάλματα του συστήματος αρχείων και κατεστραμμένους τομείς (bad sectors).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Εκτέλεση</a:t>
            </a:r>
            <a:r>
              <a:rPr sz="2000" dirty="0"/>
              <a:t> από CMD: Απα</a:t>
            </a:r>
            <a:r>
              <a:rPr sz="2000" dirty="0" err="1"/>
              <a:t>ιτείτ</a:t>
            </a:r>
            <a:r>
              <a:rPr sz="2000" dirty="0"/>
              <a:t>αι δικαίωμα Διαχειριστή (Run as Administrator).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Βα</a:t>
            </a:r>
            <a:r>
              <a:rPr sz="2000" dirty="0" err="1"/>
              <a:t>σική</a:t>
            </a:r>
            <a:r>
              <a:rPr sz="2000" dirty="0"/>
              <a:t> </a:t>
            </a:r>
            <a:r>
              <a:rPr sz="2000" dirty="0" err="1"/>
              <a:t>Εντολή</a:t>
            </a:r>
            <a:r>
              <a:rPr sz="2000" dirty="0"/>
              <a:t>: </a:t>
            </a:r>
            <a:r>
              <a:rPr sz="2000" dirty="0" err="1"/>
              <a:t>chkdsk</a:t>
            </a:r>
            <a:r>
              <a:rPr sz="2000" dirty="0"/>
              <a:t> C: /f </a:t>
            </a:r>
            <a:r>
              <a:rPr sz="2000" dirty="0" err="1"/>
              <a:t>γι</a:t>
            </a:r>
            <a:r>
              <a:rPr sz="2000" dirty="0"/>
              <a:t>α διόρθωση σφαλμάτων δίσκου.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• Επα</a:t>
            </a:r>
            <a:r>
              <a:rPr sz="2000" dirty="0" err="1"/>
              <a:t>νεκκίνηση</a:t>
            </a:r>
            <a:r>
              <a:rPr sz="2000" dirty="0"/>
              <a:t>: </a:t>
            </a:r>
            <a:r>
              <a:rPr sz="2000" dirty="0" err="1"/>
              <a:t>Εάν</a:t>
            </a:r>
            <a:r>
              <a:rPr sz="2000" dirty="0"/>
              <a:t> ο </a:t>
            </a:r>
            <a:r>
              <a:rPr sz="2000" dirty="0" err="1"/>
              <a:t>τόμος</a:t>
            </a:r>
            <a:r>
              <a:rPr sz="2000" dirty="0"/>
              <a:t> </a:t>
            </a:r>
            <a:r>
              <a:rPr sz="2000" dirty="0" err="1"/>
              <a:t>χρησιμο</a:t>
            </a:r>
            <a:r>
              <a:rPr sz="2000" dirty="0"/>
              <a:t>ποιείται, ο έλεγχος προγραμματίζεται στην επόμενη επανεκκίνηση (Y/N).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Συμπίεση Δεδομένων: Απωλεστική &amp; Μη Απωλεστική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4Η ΏΡΑ: ΣΥΜΠΊΕΣΗ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Μη</a:t>
            </a:r>
            <a:r>
              <a:rPr sz="2000" dirty="0"/>
              <a:t> Απ</a:t>
            </a:r>
            <a:r>
              <a:rPr sz="2000" dirty="0" err="1"/>
              <a:t>ωλεστική</a:t>
            </a:r>
            <a:r>
              <a:rPr sz="2000" dirty="0"/>
              <a:t> (Lossless): </a:t>
            </a:r>
            <a:r>
              <a:rPr sz="2000" dirty="0" err="1"/>
              <a:t>Δεν</a:t>
            </a:r>
            <a:r>
              <a:rPr sz="2000" dirty="0"/>
              <a:t> </a:t>
            </a:r>
            <a:r>
              <a:rPr sz="2000" dirty="0" err="1"/>
              <a:t>χάνετ</a:t>
            </a:r>
            <a:r>
              <a:rPr sz="2000" dirty="0"/>
              <a:t>αι κανένα δεδομένο (π.χ. ZIP, 7z). Απαρα</a:t>
            </a:r>
            <a:r>
              <a:rPr sz="2000" dirty="0" err="1"/>
              <a:t>ίτητη</a:t>
            </a:r>
            <a:r>
              <a:rPr sz="2000" dirty="0"/>
              <a:t> </a:t>
            </a:r>
            <a:r>
              <a:rPr sz="2000" dirty="0" err="1"/>
              <a:t>γι</a:t>
            </a:r>
            <a:r>
              <a:rPr sz="2000" dirty="0"/>
              <a:t>α κείμενα, κώδικα και προγράμματα.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Απ</a:t>
            </a:r>
            <a:r>
              <a:rPr sz="2000" dirty="0" err="1"/>
              <a:t>ωλεστική</a:t>
            </a:r>
            <a:r>
              <a:rPr sz="2000" dirty="0"/>
              <a:t> (Lossy): </a:t>
            </a:r>
            <a:r>
              <a:rPr sz="2000" dirty="0" err="1"/>
              <a:t>Θυσιάζει</a:t>
            </a:r>
            <a:r>
              <a:rPr sz="2000" dirty="0"/>
              <a:t> α</a:t>
            </a:r>
            <a:r>
              <a:rPr sz="2000" dirty="0" err="1"/>
              <a:t>σήμ</a:t>
            </a:r>
            <a:r>
              <a:rPr sz="2000" dirty="0"/>
              <a:t>αντη λεπτομέρεια για μέγιστη εξοικονόμηση χώρου (π.χ. MP3, JPEG).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Ενσωμ</a:t>
            </a:r>
            <a:r>
              <a:rPr sz="2000" dirty="0"/>
              <a:t>ατωμένη Συμπίεση Windows: Δεξί κλικ -&gt; 'Συμπίεση σε αρχείο ZIP'.</a:t>
            </a:r>
          </a:p>
          <a:p>
            <a:pPr>
              <a:spcAft>
                <a:spcPts val="1000"/>
              </a:spcAft>
              <a:defRPr sz="1500">
                <a:solidFill>
                  <a:srgbClr val="0F172A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Πρόγρ</a:t>
            </a:r>
            <a:r>
              <a:rPr sz="2000" dirty="0"/>
              <a:t>αμμα 7-Zip: Ανοικτού κώδικα εργαλείο υψηλής συμπίεσης και κρυπτογράφησης AES-256.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Quiz Αυτοαξιολόγησης (Σωστό / Λάθος)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ΑΞΙΟΛΌΓΗΣΗ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1. </a:t>
            </a:r>
            <a:r>
              <a:rPr sz="2000" dirty="0" err="1"/>
              <a:t>Το</a:t>
            </a:r>
            <a:r>
              <a:rPr sz="2000" dirty="0"/>
              <a:t> Λ.Σ. α</a:t>
            </a:r>
            <a:r>
              <a:rPr sz="2000" dirty="0" err="1"/>
              <a:t>νήκει</a:t>
            </a:r>
            <a:r>
              <a:rPr sz="2000" dirty="0"/>
              <a:t> </a:t>
            </a:r>
            <a:r>
              <a:rPr sz="2000" dirty="0" err="1"/>
              <a:t>στο</a:t>
            </a:r>
            <a:r>
              <a:rPr sz="2000" dirty="0"/>
              <a:t> </a:t>
            </a:r>
            <a:r>
              <a:rPr sz="2000" dirty="0" err="1"/>
              <a:t>λογισμικό</a:t>
            </a:r>
            <a:r>
              <a:rPr sz="2000" dirty="0"/>
              <a:t> </a:t>
            </a:r>
            <a:r>
              <a:rPr sz="2000" dirty="0" err="1"/>
              <a:t>εφ</a:t>
            </a:r>
            <a:r>
              <a:rPr sz="2000" dirty="0"/>
              <a:t>αρμογών. [Σ / Λ]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5896A-24E7-6815-C4CA-35398A2FF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38" y="1053548"/>
            <a:ext cx="9217324" cy="349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644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B0A73A-DC90-0A8F-7486-30AE96C56302}"/>
              </a:ext>
            </a:extLst>
          </p:cNvPr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2. </a:t>
            </a:r>
            <a:r>
              <a:rPr sz="2000" dirty="0" err="1"/>
              <a:t>Το</a:t>
            </a:r>
            <a:r>
              <a:rPr sz="2000" dirty="0"/>
              <a:t> MacOS </a:t>
            </a:r>
            <a:r>
              <a:rPr sz="2000" dirty="0" err="1"/>
              <a:t>είν</a:t>
            </a:r>
            <a:r>
              <a:rPr sz="2000" dirty="0"/>
              <a:t>αι ανοικτού κώδικα και τρέχει σε κάθε PC. [Σ / Λ]</a:t>
            </a:r>
          </a:p>
        </p:txBody>
      </p:sp>
    </p:spTree>
    <p:extLst>
      <p:ext uri="{BB962C8B-B14F-4D97-AF65-F5344CB8AC3E}">
        <p14:creationId xmlns:p14="http://schemas.microsoft.com/office/powerpoint/2010/main" val="2753429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9C94A-7293-875C-6ECC-27778FAE9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111" y="1431234"/>
            <a:ext cx="10467778" cy="34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01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1C6F01-E8D8-63DB-BB35-1E06A0008941}"/>
              </a:ext>
            </a:extLst>
          </p:cNvPr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3. Ο π</a:t>
            </a:r>
            <a:r>
              <a:rPr sz="2000" dirty="0" err="1"/>
              <a:t>υρήν</a:t>
            </a:r>
            <a:r>
              <a:rPr sz="2000" dirty="0"/>
              <a:t>ας (Kernel) φορτώνεται πρώτος στη μνήμη RAM. [Σ / Λ]</a:t>
            </a:r>
          </a:p>
        </p:txBody>
      </p:sp>
    </p:spTree>
    <p:extLst>
      <p:ext uri="{BB962C8B-B14F-4D97-AF65-F5344CB8AC3E}">
        <p14:creationId xmlns:p14="http://schemas.microsoft.com/office/powerpoint/2010/main" val="3757010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F0E91-EA21-75A5-B727-BED557BCB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14" y="1815253"/>
            <a:ext cx="11543171" cy="322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52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70677F-B57D-6956-99FD-D6329B53CF5A}"/>
              </a:ext>
            </a:extLst>
          </p:cNvPr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4. </a:t>
            </a:r>
            <a:r>
              <a:rPr sz="2000" dirty="0" err="1"/>
              <a:t>Μι</a:t>
            </a:r>
            <a:r>
              <a:rPr sz="2000" dirty="0"/>
              <a:t>α εφαρμογή μπορεί να εκτελεστεί απευθείας από τον σκληρό δίσκο χωρίς τη RAM. [Σ / Λ]</a:t>
            </a:r>
          </a:p>
        </p:txBody>
      </p:sp>
    </p:spTree>
    <p:extLst>
      <p:ext uri="{BB962C8B-B14F-4D97-AF65-F5344CB8AC3E}">
        <p14:creationId xmlns:p14="http://schemas.microsoft.com/office/powerpoint/2010/main" val="4135039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1F567-CF33-0D18-CADB-9EB876B8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37" y="1490870"/>
            <a:ext cx="8860925" cy="35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0904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951453-8AF2-998E-8F8C-947A5B1BB14A}"/>
              </a:ext>
            </a:extLst>
          </p:cNvPr>
          <p:cNvSpPr txBox="1"/>
          <p:nvPr/>
        </p:nvSpPr>
        <p:spPr>
          <a:xfrm>
            <a:off x="806116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5. </a:t>
            </a:r>
            <a:r>
              <a:rPr sz="2000" dirty="0" err="1"/>
              <a:t>Το</a:t>
            </a:r>
            <a:r>
              <a:rPr sz="2000" dirty="0"/>
              <a:t> </a:t>
            </a:r>
            <a:r>
              <a:rPr sz="2000" dirty="0" err="1"/>
              <a:t>σύστημ</a:t>
            </a:r>
            <a:r>
              <a:rPr sz="2000" dirty="0"/>
              <a:t>α FAT32 επιτρέπει αρχεία άνω των 4 GB. [Σ / Λ]</a:t>
            </a:r>
          </a:p>
        </p:txBody>
      </p:sp>
    </p:spTree>
    <p:extLst>
      <p:ext uri="{BB962C8B-B14F-4D97-AF65-F5344CB8AC3E}">
        <p14:creationId xmlns:p14="http://schemas.microsoft.com/office/powerpoint/2010/main" val="3574085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3163CA-39A4-F6DA-6D9F-F1D3D5249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3" y="1470990"/>
            <a:ext cx="10448348" cy="373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8253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557B7-F7C7-D0A2-7C4C-7286AC9A4774}"/>
              </a:ext>
            </a:extLst>
          </p:cNvPr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6. </a:t>
            </a:r>
            <a:r>
              <a:rPr sz="2000" dirty="0" err="1"/>
              <a:t>Το</a:t>
            </a:r>
            <a:r>
              <a:rPr sz="2000" dirty="0"/>
              <a:t> NTFS υπ</a:t>
            </a:r>
            <a:r>
              <a:rPr sz="2000" dirty="0" err="1"/>
              <a:t>οστηρίζει</a:t>
            </a:r>
            <a:r>
              <a:rPr sz="2000" dirty="0"/>
              <a:t> </a:t>
            </a:r>
            <a:r>
              <a:rPr sz="2000" dirty="0" err="1"/>
              <a:t>λίστες</a:t>
            </a:r>
            <a:r>
              <a:rPr sz="2000" dirty="0"/>
              <a:t> </a:t>
            </a:r>
            <a:r>
              <a:rPr sz="2000" dirty="0" err="1"/>
              <a:t>ελέγχου</a:t>
            </a:r>
            <a:r>
              <a:rPr sz="2000" dirty="0"/>
              <a:t> π</a:t>
            </a:r>
            <a:r>
              <a:rPr sz="2000" dirty="0" err="1"/>
              <a:t>ρόσ</a:t>
            </a:r>
            <a:r>
              <a:rPr sz="2000" dirty="0"/>
              <a:t>βασης (ACLs). [Σ / Λ]</a:t>
            </a:r>
          </a:p>
        </p:txBody>
      </p:sp>
    </p:spTree>
    <p:extLst>
      <p:ext uri="{BB962C8B-B14F-4D97-AF65-F5344CB8AC3E}">
        <p14:creationId xmlns:p14="http://schemas.microsoft.com/office/powerpoint/2010/main" val="286993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8AD77-F4A9-EF54-C7D4-45BF25080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28" y="1391478"/>
            <a:ext cx="10532683" cy="345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90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B7856-0A1D-DF5D-C58B-D3C965D96687}"/>
              </a:ext>
            </a:extLst>
          </p:cNvPr>
          <p:cNvSpPr txBox="1"/>
          <p:nvPr/>
        </p:nvSpPr>
        <p:spPr>
          <a:xfrm>
            <a:off x="914400" y="1463040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</a:defRPr>
            </a:pPr>
            <a:r>
              <a:rPr sz="2000" dirty="0"/>
              <a:t>7. Η απ</a:t>
            </a:r>
            <a:r>
              <a:rPr sz="2000" dirty="0" err="1"/>
              <a:t>εγκ</a:t>
            </a:r>
            <a:r>
              <a:rPr sz="2000" dirty="0"/>
              <a:t>ατάσταση μιας εφαρμογής διαγράφει και τα έγγραφα του χρήστη. [Σ / Λ]</a:t>
            </a:r>
          </a:p>
        </p:txBody>
      </p:sp>
    </p:spTree>
    <p:extLst>
      <p:ext uri="{BB962C8B-B14F-4D97-AF65-F5344CB8AC3E}">
        <p14:creationId xmlns:p14="http://schemas.microsoft.com/office/powerpoint/2010/main" val="902325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5B69D9-8839-4404-F871-DEA0096A0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83" y="1172805"/>
            <a:ext cx="10194634" cy="385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56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0E4328-DF33-4DD8-6713-DBB81D196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61" y="334288"/>
            <a:ext cx="9114310" cy="531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963AB4-09FD-CFFC-370C-D241E075BAD2}"/>
              </a:ext>
            </a:extLst>
          </p:cNvPr>
          <p:cNvSpPr txBox="1"/>
          <p:nvPr/>
        </p:nvSpPr>
        <p:spPr>
          <a:xfrm>
            <a:off x="2999232" y="5678892"/>
            <a:ext cx="215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1Ε, 2Γ, 3Β, 4Α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3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789AC-68CB-9ECF-7DF5-CF2F2B32B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26" y="285477"/>
            <a:ext cx="8626588" cy="6287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D00BD3-2C3B-DE49-66D1-939B0EEF1789}"/>
              </a:ext>
            </a:extLst>
          </p:cNvPr>
          <p:cNvSpPr txBox="1"/>
          <p:nvPr/>
        </p:nvSpPr>
        <p:spPr>
          <a:xfrm>
            <a:off x="10250905" y="2213811"/>
            <a:ext cx="5180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1Σ, </a:t>
            </a:r>
          </a:p>
          <a:p>
            <a:r>
              <a:rPr lang="el-GR" dirty="0"/>
              <a:t>2Λ</a:t>
            </a:r>
          </a:p>
          <a:p>
            <a:r>
              <a:rPr lang="el-GR" dirty="0"/>
              <a:t>3Σ</a:t>
            </a:r>
          </a:p>
          <a:p>
            <a:r>
              <a:rPr lang="el-GR" dirty="0"/>
              <a:t>4Σ</a:t>
            </a:r>
          </a:p>
          <a:p>
            <a:r>
              <a:rPr lang="el-GR" dirty="0"/>
              <a:t>5Σ</a:t>
            </a:r>
          </a:p>
          <a:p>
            <a:r>
              <a:rPr lang="el-GR" dirty="0"/>
              <a:t>6Σ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2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1625</Words>
  <Application>Microsoft Office PowerPoint</Application>
  <PresentationFormat>Widescreen</PresentationFormat>
  <Paragraphs>131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Michail Vlachos</cp:lastModifiedBy>
  <cp:revision>27</cp:revision>
  <dcterms:created xsi:type="dcterms:W3CDTF">2013-01-27T09:14:16Z</dcterms:created>
  <dcterms:modified xsi:type="dcterms:W3CDTF">2026-10-16T10:24:45Z</dcterms:modified>
  <cp:category/>
</cp:coreProperties>
</file>